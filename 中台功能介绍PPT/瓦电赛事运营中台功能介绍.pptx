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notesMaster" Target="notesMasters/notesMaster1.xml" 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5" Type="http://schemas.openxmlformats.org/officeDocument/2006/relationships/image" Target="media/image2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0.svg" /><Relationship Id="rId1" Type="http://schemas.openxmlformats.org/officeDocument/2006/relationships/image" Target="media/image8.svg" /><Relationship Id="rId6" Type="http://schemas.openxmlformats.org/officeDocument/2006/relationships/image" Target="media/image12.svg" /><Relationship Id="rId10" Type="http://schemas.openxmlformats.org/officeDocument/2006/relationships/image" Target="media/image16.svg" /><Relationship Id="rId2" Type="http://schemas.openxmlformats.org/officeDocument/2006/relationships/image" Target="media/image9.svg" /><Relationship Id="rId4" Type="http://schemas.openxmlformats.org/officeDocument/2006/relationships/image" Target="media/image11.svg" /><Relationship Id="rId7" Type="http://schemas.openxmlformats.org/officeDocument/2006/relationships/image" Target="media/image13.svg" /><Relationship Id="rId8" Type="http://schemas.openxmlformats.org/officeDocument/2006/relationships/image" Target="media/image14.svg" /><Relationship Id="rId9" Type="http://schemas.openxmlformats.org/officeDocument/2006/relationships/image" Target="media/image15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svg" /><Relationship Id="rId2" Type="http://schemas.openxmlformats.org/officeDocument/2006/relationships/image" Target="media/image18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9.svg" /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image" Target="media/image2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'1280px', height: '720px', background: 'linear-gradient(135deg, #120A0B 0%, #241215 60%, #120A0B 100%)', padding: 0, position: 'relative' }}&gt;&#10;  {/* 装饰：右上电竞红斜光 */}&#10;  &lt;Box style={{ position: 'absolute', top: 0, right: 0, width: 520, height: 520, background: 'linear-gradient(135deg, rgba(253,38,89,0.20) 0%, transparent 70%)', opacity: 0.9 }} /&gt;&#10;  &lt;Box style={{ position: 'absolute', bottom: 0, left: 0, width: 420, height: 420, background: 'linear-gradient(135deg, transparent 40%, rgba(220,48,48,0.16) 100%)' }} /&gt;&#10;  {/* 左侧大字标题区 */}&#10;  &lt;Box style={{ position: 'absolute', left: 80, top: 210, zIndex: 2 }}&gt;&#10;    &lt;Text style={{ fontSize: 24, color: '#FD2659', fontWeight: 'bold', letterSpacing: 4 }}&gt;VALORANT · 电竞运营工具&lt;/Text&gt;&#10;    &lt;Text style={{ fontSize: 72, color: '#F0E8E8', fontWeight: 800, marginTop: 18, lineHeight: 1.1 }}&gt;瓦电赛事&lt;span style={{ color: '#DC3030' }}&gt;运营中台&lt;/span&gt;&lt;/Text&gt;&#10;    &lt;Text style={{ fontSize: 30, color: '#B0A0A0', marginTop: 26, fontWeight: 400 }}&gt;功能介绍 · 建设复盘 · 扩展方向&lt;/Text&gt;&#10;    &lt;Box style={{ width: 120, height: 5, background: '#DC3030', marginTop: 34, borderRadius: 3 }} /&gt;&#10;    &lt;Text style={{ fontSize: 18, color: '#7B7F7D', marginTop: 28 }}&gt;内部团队工具 · 部署版本 v=20260823e&lt;/Text&gt;&#10;  &lt;/Box&gt;&#10;  {/* 右下角徽标 */}&#10;  &lt;Box style={{ position: 'absolute', right: 80, bottom: 48, zIndex: 2, flexDirection: 'row', alignItems: 'center', gap: 12 }}&gt;&#10;    &lt;Box style={{ width: 14, height: 14, background: '#DC3030', borderRadius: 3 }} /&gt;&#10;    &lt;Text style={{ fontSize: 16, color: '#B0A0A0' }}&gt;Jinx-Arms · VCT CN Operations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0A0B"/>
              </a:gs>
              <a:gs pos="60000">
                <a:srgbClr val="241215"/>
              </a:gs>
              <a:gs pos="100000">
                <a:srgbClr val="120A0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239000" y="0"/>
            <a:ext cx="4953000" cy="4953000"/>
          </a:xfrm>
          <a:prstGeom prst="rect">
            <a:avLst/>
          </a:prstGeom>
          <a:gradFill>
            <a:gsLst>
              <a:gs pos="0">
                <a:srgbClr val="FD2659">
                  <a:alpha val="18000"/>
                </a:srgbClr>
              </a:gs>
              <a:gs pos="7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0" y="2857500"/>
            <a:ext cx="4000500" cy="4000500"/>
          </a:xfrm>
          <a:prstGeom prst="rect">
            <a:avLst/>
          </a:prstGeom>
          <a:gradFill>
            <a:gsLst>
              <a:gs pos="40000">
                <a:srgbClr val="FFFFFF">
                  <a:alpha val="0"/>
                </a:srgbClr>
              </a:gs>
              <a:gs pos="100000">
                <a:srgbClr val="DC3030">
                  <a:alpha val="1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2000250"/>
            <a:ext cx="5486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 spc="300">
                <a:solidFill>
                  <a:srgbClr val="FD2659"/>
                </a:solidFill>
                <a:latin typeface="Microsoft YaHei"/>
                <a:ea typeface="Microsoft YaHei"/>
              </a:rPr>
              <a:t>VALORANT · </a:t>
            </a:r>
            <a:r>
              <a:rPr lang="zh-CN" sz="1800" b="1" spc="300">
                <a:solidFill>
                  <a:srgbClr val="FD2659"/>
                </a:solidFill>
                <a:latin typeface="Microsoft YaHei"/>
                <a:ea typeface="Microsoft YaHei"/>
              </a:rPr>
              <a:t>电竞运营工具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2447925"/>
            <a:ext cx="5486400" cy="9144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400" b="1">
                <a:solidFill>
                  <a:srgbClr val="F0E8E8"/>
                </a:solidFill>
                <a:latin typeface="Microsoft YaHei"/>
                <a:ea typeface="Microsoft YaHei"/>
              </a:rPr>
              <a:t>瓦电赛事</a:t>
            </a:r>
            <a:r>
              <a:rPr lang="zh-CN" sz="5400" b="1">
                <a:solidFill>
                  <a:srgbClr val="DC3030"/>
                </a:solidFill>
                <a:latin typeface="Microsoft YaHei"/>
                <a:ea typeface="Microsoft YaHei"/>
              </a:rPr>
              <a:t>运营中台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3609975"/>
            <a:ext cx="5486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B0A0A0"/>
                </a:solidFill>
                <a:latin typeface="Microsoft YaHei"/>
                <a:ea typeface="Microsoft YaHei"/>
              </a:rPr>
              <a:t>功能介绍</a:t>
            </a:r>
            <a:r>
              <a:rPr lang="en-US" sz="2250">
                <a:solidFill>
                  <a:srgbClr val="B0A0A0"/>
                </a:solidFill>
                <a:latin typeface="Microsoft YaHei"/>
                <a:ea typeface="Microsoft YaHei"/>
              </a:rPr>
              <a:t> · </a:t>
            </a:r>
            <a:r>
              <a:rPr lang="zh-CN" sz="2250">
                <a:solidFill>
                  <a:srgbClr val="B0A0A0"/>
                </a:solidFill>
                <a:latin typeface="Microsoft YaHei"/>
                <a:ea typeface="Microsoft YaHei"/>
              </a:rPr>
              <a:t>建设复盘</a:t>
            </a:r>
            <a:r>
              <a:rPr lang="en-US" sz="2250">
                <a:solidFill>
                  <a:srgbClr val="B0A0A0"/>
                </a:solidFill>
                <a:latin typeface="Microsoft YaHei"/>
                <a:ea typeface="Microsoft YaHei"/>
              </a:rPr>
              <a:t> · </a:t>
            </a:r>
            <a:r>
              <a:rPr lang="zh-CN" sz="2250">
                <a:solidFill>
                  <a:srgbClr val="B0A0A0"/>
                </a:solidFill>
                <a:latin typeface="Microsoft YaHei"/>
                <a:ea typeface="Microsoft YaHei"/>
              </a:rPr>
              <a:t>扩展方向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4276725"/>
            <a:ext cx="1143000" cy="47625"/>
          </a:xfrm>
          <a:prstGeom prst="roundRect">
            <a:avLst>
              <a:gd name="adj" fmla="val 60000"/>
            </a:avLst>
          </a:prstGeom>
          <a:solidFill>
            <a:srgbClr val="DC3030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4591050"/>
            <a:ext cx="548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7B7F7D"/>
                </a:solidFill>
                <a:latin typeface="Microsoft YaHei"/>
                <a:ea typeface="Microsoft YaHei"/>
              </a:rPr>
              <a:t>内部团队工具</a:t>
            </a:r>
            <a:r>
              <a:rPr lang="en-US" sz="1350">
                <a:solidFill>
                  <a:srgbClr val="7B7F7D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7B7F7D"/>
                </a:solidFill>
                <a:latin typeface="Microsoft YaHei"/>
                <a:ea typeface="Microsoft YaHei"/>
              </a:rPr>
              <a:t>部署版本</a:t>
            </a:r>
            <a:r>
              <a:rPr lang="en-US" sz="1350">
                <a:solidFill>
                  <a:srgbClr val="7B7F7D"/>
                </a:solidFill>
                <a:latin typeface="Microsoft YaHei"/>
                <a:ea typeface="Microsoft YaHei"/>
              </a:rPr>
              <a:t> v=20260823e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8924925" y="6238875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DC3030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172575" y="6210300"/>
            <a:ext cx="2257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0A0A0"/>
                </a:solidFill>
                <a:latin typeface="Microsoft YaHei"/>
                <a:ea typeface="Microsoft YaHei"/>
              </a:rPr>
              <a:t>Jinx-Arms · VCT CN Operations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49" name="" descr="&lt;Slide style={{ width: '1280px', height: '720px', background: '#120A0B', padding: '40px 64px' }}&gt;&#10;  &lt;Box style={{ flexDirection: 'row', height: '100%' }}&gt;&#10;    {/* 左：标题栏 */}&#10;    &lt;Box style={{ width: '28%', justifyContent: 'center' }}&gt;&#10;      &lt;Text style={{ fontSize: 16, color: '#FD2659', fontWeight: 'bold', letterSpacing: 3 }}&gt;CONTENTS&lt;/Text&gt;&#10;      &lt;Text style={{ fontSize: 46, color: '#F0E8E8', fontWeight: 800, marginTop: 10 }}&gt;目录&lt;/Text&gt;&#10;      &lt;Box style={{ width: 64, height: 4, background: '#DC3030', marginTop: 18, borderRadius: 2 }} /&gt;&#10;      &lt;Text style={{ fontSize: 17, color: '#B0A0A0', marginTop: 22, lineHeight: 1.6 }}&gt;从能力概览到建设复盘，&lt;br /&gt;再到下一步扩展路线。&lt;/Text&gt;&#10;    &lt;/Box&gt;&#10;    {/* 右：四章条目 */}&#10;    &lt;Box style={{ width: '72%', justifyContent: 'center', gap: 22, paddingLeft: 40 }}&gt;&#10;      {[&#10;        { n: '01', t: '中台概览', d: '中台是什么、整体技术架构与部署形态' },&#10;        { n: '02', t: '核心功能', d: '赛程排班 · 战队库看点 · 图形工厂 · 赛况战报' },&#10;        { n: '03', t: '开发经验教训', d: '白屏防御、数据源失效、诚实修正三大复盘' },&#10;        { n: '04', t: '未来扩展', d: '私有云部署、AI 文案多样化、扩展路线图' },&#10;      ].map((it, i) =&gt; (&#10;        &lt;Box key={i} style={{ flexDirection: 'row', alignItems: 'center', gap: 22, background: 'rgba(220,48,48,0.08)', borderRadius: 12, padding: '18px 26px', borderLeft: '4px solid #DC3030' }}&gt;&#10;          &lt;Text style={{ fontSize: 40, color: '#DC3030', fontWeight: 800, width: 70 }}&gt;{it.n}&lt;/Text&gt;&#10;          &lt;Box&gt;&#10;            &lt;Text style={{ fontSize: 24, color: '#F0E8E8', fontWeight: 700 }}&gt;{it.t}&lt;/Text&gt;&#10;            &lt;Text style={{ fontSize: 17, color: '#B0A0A0', marginTop: 4 }}&gt;{it.d}&lt;/Text&gt;&#10;          &lt;/Box&gt;&#10;        &lt;/Box&gt;&#10;      ))}&#10;    &lt;/Box&gt;&#10;  &lt;/Box&gt;&#10;  &lt;Box style={{ position: 'absolute', bottom: 20, left: 64, fontSize: 14, color: '#7B7F7D' }}&gt;瓦电赛事运营中台&lt;/Box&gt;&#10;  &lt;Box style={{ position: 'absolute', bottom: 20, right: 64, fontSize: 14, color: '#7B7F7D' }}&gt;02 / 18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0A0B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FD2659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2781300"/>
            <a:ext cx="30765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F0E8E8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09600" y="34861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DC3030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09600" y="3733800"/>
            <a:ext cx="3076575" cy="628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从能力概览到建设复盘，</a:t>
            </a:r>
            <a:endParaRPr/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再到下一步扩展路线。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4105275" y="1400175"/>
            <a:ext cx="7515225" cy="857250"/>
          </a:xfrm>
          <a:prstGeom prst="roundRect">
            <a:avLst>
              <a:gd name="adj" fmla="val 13333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4105275" y="1400175"/>
            <a:ext cx="7515225" cy="857250"/>
          </a:xfrm>
          <a:custGeom>
            <a:pathLst>
              <a:path w="789" h="9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2"/>
                </a:lnTo>
                <a:cubicBezTo>
                  <a:pt x="4" y="86"/>
                  <a:pt x="7" y="89"/>
                  <a:pt x="10" y="90"/>
                </a:cubicBezTo>
                <a:cubicBezTo>
                  <a:pt x="4" y="89"/>
                  <a:pt x="0" y="84"/>
                  <a:pt x="0" y="7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C3030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352925" y="1600200"/>
            <a:ext cx="666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C3030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229225" y="1571625"/>
            <a:ext cx="2752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0E8E8"/>
                </a:solidFill>
                <a:latin typeface="Microsoft YaHei"/>
                <a:ea typeface="Microsoft YaHei"/>
              </a:rPr>
              <a:t>中台概览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229225" y="1885950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中台是什么、整体技术架构与部署形态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4105275" y="2466975"/>
            <a:ext cx="7515225" cy="857250"/>
          </a:xfrm>
          <a:prstGeom prst="roundRect">
            <a:avLst>
              <a:gd name="adj" fmla="val 13333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4105275" y="2466975"/>
            <a:ext cx="7515225" cy="857250"/>
          </a:xfrm>
          <a:custGeom>
            <a:pathLst>
              <a:path w="789" h="9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2"/>
                </a:lnTo>
                <a:cubicBezTo>
                  <a:pt x="4" y="86"/>
                  <a:pt x="7" y="89"/>
                  <a:pt x="10" y="90"/>
                </a:cubicBezTo>
                <a:cubicBezTo>
                  <a:pt x="4" y="89"/>
                  <a:pt x="0" y="84"/>
                  <a:pt x="0" y="7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C3030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352925" y="2667000"/>
            <a:ext cx="666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C3030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229225" y="2638425"/>
            <a:ext cx="3162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0E8E8"/>
                </a:solidFill>
                <a:latin typeface="Microsoft YaHei"/>
                <a:ea typeface="Microsoft YaHei"/>
              </a:rPr>
              <a:t>核心功能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229225" y="2952750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赛程排班</a:t>
            </a:r>
            <a:r>
              <a:rPr lang="en-US" sz="1275">
                <a:solidFill>
                  <a:srgbClr val="B0A0A0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战队库看点</a:t>
            </a:r>
            <a:r>
              <a:rPr lang="en-US" sz="1275">
                <a:solidFill>
                  <a:srgbClr val="B0A0A0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图形工厂</a:t>
            </a:r>
            <a:r>
              <a:rPr lang="en-US" sz="1275">
                <a:solidFill>
                  <a:srgbClr val="B0A0A0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赛况战报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4105275" y="3533775"/>
            <a:ext cx="7515225" cy="857250"/>
          </a:xfrm>
          <a:prstGeom prst="roundRect">
            <a:avLst>
              <a:gd name="adj" fmla="val 13333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4105275" y="3533775"/>
            <a:ext cx="7515225" cy="857250"/>
          </a:xfrm>
          <a:custGeom>
            <a:pathLst>
              <a:path w="789" h="9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2"/>
                </a:lnTo>
                <a:cubicBezTo>
                  <a:pt x="4" y="86"/>
                  <a:pt x="7" y="89"/>
                  <a:pt x="10" y="90"/>
                </a:cubicBezTo>
                <a:cubicBezTo>
                  <a:pt x="4" y="89"/>
                  <a:pt x="0" y="84"/>
                  <a:pt x="0" y="7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C3030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352925" y="3733800"/>
            <a:ext cx="666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C3030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229225" y="3705225"/>
            <a:ext cx="30765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0E8E8"/>
                </a:solidFill>
                <a:latin typeface="Microsoft YaHei"/>
                <a:ea typeface="Microsoft YaHei"/>
              </a:rPr>
              <a:t>开发经验教训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229225" y="4019550"/>
            <a:ext cx="3076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白屏防御、数据源失效、诚实修正三大复盘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4105275" y="4600575"/>
            <a:ext cx="7515225" cy="857250"/>
          </a:xfrm>
          <a:prstGeom prst="roundRect">
            <a:avLst>
              <a:gd name="adj" fmla="val 13333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4105275" y="4600575"/>
            <a:ext cx="7515225" cy="857250"/>
          </a:xfrm>
          <a:custGeom>
            <a:pathLst>
              <a:path w="789" h="9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2"/>
                </a:lnTo>
                <a:cubicBezTo>
                  <a:pt x="4" y="86"/>
                  <a:pt x="7" y="89"/>
                  <a:pt x="10" y="90"/>
                </a:cubicBezTo>
                <a:cubicBezTo>
                  <a:pt x="4" y="89"/>
                  <a:pt x="0" y="84"/>
                  <a:pt x="0" y="7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C3030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352925" y="4800600"/>
            <a:ext cx="666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C3030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5229225" y="4772025"/>
            <a:ext cx="2962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0E8E8"/>
                </a:solidFill>
                <a:latin typeface="Microsoft YaHei"/>
                <a:ea typeface="Microsoft YaHei"/>
              </a:rPr>
              <a:t>未来扩展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229225" y="5086350"/>
            <a:ext cx="2962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私有云部署、</a:t>
            </a:r>
            <a:r>
              <a:rPr lang="en-US" sz="1275">
                <a:solidFill>
                  <a:srgbClr val="B0A0A0"/>
                </a:solidFill>
                <a:latin typeface="Microsoft YaHei"/>
                <a:ea typeface="Microsoft YaHei"/>
              </a:rPr>
              <a:t>AI </a:t>
            </a: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文案多样化、扩展路线图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B7F7D"/>
                </a:solidFill>
                <a:latin typeface="Microsoft YaHei"/>
                <a:ea typeface="Microsoft YaHei"/>
              </a:rPr>
              <a:t>瓦电赛事运营中台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7F7D"/>
                </a:solidFill>
                <a:latin typeface="Microsoft YaHei"/>
                <a:ea typeface="Microsoft YaHei"/>
              </a:rPr>
              <a:t>02 / 18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77" name="" descr="&lt;Slide style={{ width: '1280px', height: '720px', background: 'linear-gradient(135deg, #120A0B 0%, #241215 100%)', padding: 0, position: 'relative' }}&gt;&#10;  &lt;Box style={{ position: 'absolute', top: 0, right: 0, width: 460, height: 460, background: 'linear-gradient(135deg, rgba(220,48,48,0.18) 0%, transparent 70%)' }} /&gt;&#10;  &lt;Box style={{ position: 'absolute', left: 90, top: 250 }}&gt;&#10;    &lt;Text style={{ fontSize: 200, color: 'rgba(220,48,48,0.18)', fontWeight: 800, lineHeight: 1 }}&gt;01&lt;/Text&gt;&#10;  &lt;/Box&gt;&#10;  &lt;Box style={{ position: 'absolute', left: 130, top: 320, zIndex: 2 }}&gt;&#10;    &lt;Text style={{ fontSize: 22, color: '#FD2659', fontWeight: 'bold', letterSpacing: 4 }}&gt;CHAPTER 01&lt;/Text&gt;&#10;    &lt;Text style={{ fontSize: 56, color: '#F0E8E8', fontWeight: 800, marginTop: 14 }}&gt;中台概览&lt;/Text&gt;&#10;    &lt;Box style={{ width: 90, height: 5, background: '#DC3030', marginTop: 22, borderRadius: 3 }} /&gt;&#10;    &lt;Text style={{ fontSize: 20, color: '#B0A0A0', marginTop: 22 }}&gt;它是什么，以及它建在什么之上。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0A0B"/>
              </a:gs>
              <a:gs pos="100000">
                <a:srgbClr val="241215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7810500" y="0"/>
            <a:ext cx="4381500" cy="4381500"/>
          </a:xfrm>
          <a:prstGeom prst="rect">
            <a:avLst/>
          </a:prstGeom>
          <a:gradFill>
            <a:gsLst>
              <a:gs pos="0">
                <a:srgbClr val="DC3030">
                  <a:alpha val="18000"/>
                </a:srgbClr>
              </a:gs>
              <a:gs pos="7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57250" y="238125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DC3030">
                    <a:alpha val="1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238250" y="3048000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300">
                <a:solidFill>
                  <a:srgbClr val="FD2659"/>
                </a:solidFill>
                <a:latin typeface="Microsoft YaHei"/>
                <a:ea typeface="Microsoft YaHei"/>
              </a:rPr>
              <a:t>CHAPTER 01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238250" y="3438525"/>
            <a:ext cx="28575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0E8E8"/>
                </a:solidFill>
                <a:latin typeface="Microsoft YaHei"/>
                <a:ea typeface="Microsoft YaHei"/>
              </a:rPr>
              <a:t>中台概览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1238250" y="4295775"/>
            <a:ext cx="857250" cy="47625"/>
          </a:xfrm>
          <a:prstGeom prst="roundRect">
            <a:avLst>
              <a:gd name="adj" fmla="val 60000"/>
            </a:avLst>
          </a:prstGeom>
          <a:solidFill>
            <a:srgbClr val="DC3030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238250" y="4552950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B0A0A0"/>
                </a:solidFill>
                <a:latin typeface="Microsoft YaHei"/>
                <a:ea typeface="Microsoft YaHei"/>
              </a:rPr>
              <a:t>它是什么，以及它建在什么之上。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85" name="" descr="&lt;Slide style={{ width: '1280px', height: '720px', background: '#120A0B', padding: '40px 64px' }}&gt;&#10;  {/* A 标题块 */}&#10;  &lt;Box style={{ height: 80, justifyContent: 'flex-end', borderBottom: '2px solid rgba(220,48,48,0.3)' }}&gt;&#10;    &lt;Text style={{ fontSize: 34, color: '#F0E8E8', fontWeight: 700 }}&gt;中台是什么&lt;/Text&gt;&#10;  &lt;/Box&gt;&#10;  {/* B 内容区 */}&#10;  &lt;Box style={{ flexDirection: 'row', gap: 48, marginTop: 28, height: 520 }}&gt;&#10;    {/* 左：定义文字 */}&#10;    &lt;Box style={{ width: '48%', justifyContent: 'center' }}&gt;&#10;      &lt;Text style={{ fontSize: 22, color: '#F0E8E8', lineHeight: 1.7 }}&gt;&#10;        一套面向 &lt;span style={{ color: '#FD2659', fontWeight: 'bold' }}&gt;VCT CN 赛事运营&lt;/span&gt; 的纯前端中台，把赛程、阵容、内容、图形四类高频工作收拢到一个工具里。&#10;      &lt;/Text&gt;&#10;      &lt;Box style={{ marginTop: 26, gap: 18 }}&gt;&#10;        {[&#10;          { t: '定位', d: '运营团队的「工作台」，非对外产品' },&#10;          { t: '形态', d: '纯前端 SPA + 云端数据库，零后端服务' },&#10;          { t: '覆盖', d: '赛程排班 / 战队看点 / 图形出图 / 战报生成' },&#10;          { t: '协同', d: '7 名成员账号，数据实时同步' },&#10;        ].map((it, i) =&gt; (&#10;          &lt;Box key={i} style={{ flexDirection: 'row', gap: 16, alignItems: 'flex-start' }}&gt;&#10;            &lt;Box style={{ width: 10, height: 10, background: '#DC3030', borderRadius: 2, marginTop: 8 }} /&gt;&#10;            &lt;Text style={{ fontSize: 19, color: '#B0A0A0', lineHeight: 1.5 }}&gt;&#10;              &lt;span style={{ color: '#F0E8E8', fontWeight: 'bold' }}&gt;{it.t}：&lt;/span&gt;{it.d}&#10;            &lt;/Text&gt;&#10;          &lt;/Box&gt;&#10;        ))}&#10;      &lt;/Box&gt;&#10;    &lt;/Box&gt;&#10;    {/* 右：定位示意 SVG */}&#10;    &lt;Box style={{ width: '52%', justifyContent: 'center', alignItems: 'center', background: 'rgba(220,48,48,0.06)', borderRadius: 16 }}&gt;&#10;      &lt;svg width={440} height={340} viewBox='0 0 440 340'&gt;&#10;        &lt;rect x='150' y='130' width='140' height='80' rx='10' fill='#DC3030' /&gt;&#10;        &lt;text x='220' y='160' fill='#fff' fontSize='20' fontWeight='bold' textAnchor='middle'&gt;运营中台&lt;/text&gt;&#10;        &lt;text x='220' y='188' fill='#F0E8E8' fontSize='13' textAnchor='middle'&gt;单一工作台&lt;/text&gt;&#10;        {[['赛程','70','60'],['战队','175','60'],['图形','290','60'],['战报','365','60']].map((n,i)=&gt;(&#10;          &lt;g key={i}&gt;&#10;            &lt;line x1={220} y1={170} x2={parseInt(n[1])+30} y2={parseInt(n[2])+40} stroke='#FD2659' strokeWidth='2' /&gt;&#10;            &lt;rect x={n[1]} y={n[2]} width='60' height='40' rx='8' fill='#1A0D0E' stroke='#FD2659' strokeWidth='1.5' /&gt;&#10;            &lt;text x={parseInt(n[1])+30} y={parseInt(n[2])+25} fill='#F0E8E8' fontSize='13' textAnchor='middle'&gt;{n[0]}&lt;/text&gt;&#10;          &lt;/g&gt;&#10;        ))}&#10;        &lt;text x='220' y='40' fill='#B0A0A0' fontSize='14' textAnchor='middle'&gt;VCT CN 赛事运营全流程&lt;/text&gt;&#10;        &lt;line x1='60' y1='40' x2='380' y2='40' stroke='#DC3030' strokeWidth='1' strokeDasharray='4 4' /&gt;&#10;      &lt;/svg&gt;&#10;    &lt;/Box&gt;&#10;  &lt;/Box&gt;&#10;  &lt;Box style={{ position: 'absolute', bottom: 20, left: 64, fontSize: 14, color: '#7B7F7D' }}&gt;瓦电赛事运营中台&lt;/Box&gt;&#10;  &lt;Box style={{ position: 'absolute', bottom: 20, right: 64, fontSize: 14, color: '#7B7F7D' }}&gt;04 / 18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0A0B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609600" y="381000"/>
            <a:ext cx="10972800" cy="762000"/>
          </a:xfrm>
          <a:custGeom>
            <a:pathLst>
              <a:path w="1152" h="80">
                <a:moveTo>
                  <a:pt x="0" y="78"/>
                </a:moveTo>
                <a:lnTo>
                  <a:pt x="1152" y="78"/>
                </a:lnTo>
                <a:lnTo>
                  <a:pt x="1152" y="80"/>
                </a:lnTo>
                <a:lnTo>
                  <a:pt x="0" y="80"/>
                </a:lnTo>
                <a:close/>
              </a:path>
            </a:pathLst>
          </a:custGeom>
          <a:solidFill>
            <a:srgbClr val="DC3030">
              <a:alpha val="30000"/>
            </a:srgbClr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0E8E8"/>
                </a:solidFill>
                <a:latin typeface="Microsoft YaHei"/>
                <a:ea typeface="Microsoft YaHei"/>
              </a:rPr>
              <a:t>中台是什么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09600" y="2409825"/>
            <a:ext cx="50482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F0E8E8"/>
                </a:solidFill>
                <a:latin typeface="Microsoft YaHei"/>
                <a:ea typeface="Microsoft YaHei"/>
              </a:rPr>
              <a:t>一套面向</a:t>
            </a:r>
            <a:r>
              <a:rPr lang="en-US" sz="1650">
                <a:solidFill>
                  <a:srgbClr val="F0E8E8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FD2659"/>
                </a:solidFill>
                <a:latin typeface="Microsoft YaHei"/>
                <a:ea typeface="Microsoft YaHei"/>
              </a:rPr>
              <a:t>VCT CN </a:t>
            </a:r>
            <a:r>
              <a:rPr lang="zh-CN" sz="1650" b="1">
                <a:solidFill>
                  <a:srgbClr val="FD2659"/>
                </a:solidFill>
                <a:latin typeface="Microsoft YaHei"/>
                <a:ea typeface="Microsoft YaHei"/>
              </a:rPr>
              <a:t>赛事运营</a:t>
            </a:r>
            <a:r>
              <a:rPr lang="en-US" sz="1650">
                <a:solidFill>
                  <a:srgbClr val="F0E8E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F0E8E8"/>
                </a:solidFill>
                <a:latin typeface="Microsoft YaHei"/>
                <a:ea typeface="Microsoft YaHei"/>
              </a:rPr>
              <a:t>的纯前端中台，把赛程、阵容、内容、图形四类高频工作收拢到一个工具里。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09600" y="3590925"/>
            <a:ext cx="95250" cy="95250"/>
          </a:xfrm>
          <a:prstGeom prst="roundRect">
            <a:avLst>
              <a:gd name="adj" fmla="val 20000"/>
            </a:avLst>
          </a:prstGeom>
          <a:solidFill>
            <a:srgbClr val="DC3030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57250" y="3514725"/>
            <a:ext cx="34385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F0E8E8"/>
                </a:solidFill>
                <a:latin typeface="Microsoft YaHei"/>
                <a:ea typeface="Microsoft YaHei"/>
              </a:rPr>
              <a:t>定位</a:t>
            </a:r>
            <a:r>
              <a:rPr lang="zh-CN" sz="1425" b="1">
                <a:solidFill>
                  <a:srgbClr val="F0E8E8"/>
                </a:solidFill>
                <a:latin typeface="Microsoft YaHei"/>
                <a:ea typeface="Microsoft YaHei"/>
              </a:rPr>
              <a:t>：</a:t>
            </a:r>
            <a:r>
              <a:rPr lang="zh-CN" sz="1425">
                <a:solidFill>
                  <a:srgbClr val="B0A0A0"/>
                </a:solidFill>
                <a:latin typeface="Microsoft YaHei"/>
                <a:ea typeface="Microsoft YaHei"/>
              </a:rPr>
              <a:t>运营团队的「工作台」，非对外产品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40957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DC3030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57250" y="4019550"/>
            <a:ext cx="37052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F0E8E8"/>
                </a:solidFill>
                <a:latin typeface="Microsoft YaHei"/>
                <a:ea typeface="Microsoft YaHei"/>
              </a:rPr>
              <a:t>形态</a:t>
            </a:r>
            <a:r>
              <a:rPr lang="zh-CN" sz="1425" b="1">
                <a:solidFill>
                  <a:srgbClr val="F0E8E8"/>
                </a:solidFill>
                <a:latin typeface="Microsoft YaHei"/>
                <a:ea typeface="Microsoft YaHei"/>
              </a:rPr>
              <a:t>：</a:t>
            </a:r>
            <a:r>
              <a:rPr lang="zh-CN" sz="1425">
                <a:solidFill>
                  <a:srgbClr val="B0A0A0"/>
                </a:solidFill>
                <a:latin typeface="Microsoft YaHei"/>
                <a:ea typeface="Microsoft YaHei"/>
              </a:rPr>
              <a:t>纯前端</a:t>
            </a:r>
            <a:r>
              <a:rPr lang="en-US" sz="1425">
                <a:solidFill>
                  <a:srgbClr val="B0A0A0"/>
                </a:solidFill>
                <a:latin typeface="Microsoft YaHei"/>
                <a:ea typeface="Microsoft YaHei"/>
              </a:rPr>
              <a:t> SPA + </a:t>
            </a:r>
            <a:r>
              <a:rPr lang="zh-CN" sz="1425">
                <a:solidFill>
                  <a:srgbClr val="B0A0A0"/>
                </a:solidFill>
                <a:latin typeface="Microsoft YaHei"/>
                <a:ea typeface="Microsoft YaHei"/>
              </a:rPr>
              <a:t>云端数据库，零后端服务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09600" y="460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DC3030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57250" y="4524375"/>
            <a:ext cx="40005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F0E8E8"/>
                </a:solidFill>
                <a:latin typeface="Microsoft YaHei"/>
                <a:ea typeface="Microsoft YaHei"/>
              </a:rPr>
              <a:t>覆盖</a:t>
            </a:r>
            <a:r>
              <a:rPr lang="zh-CN" sz="1425" b="1">
                <a:solidFill>
                  <a:srgbClr val="F0E8E8"/>
                </a:solidFill>
                <a:latin typeface="Microsoft YaHei"/>
                <a:ea typeface="Microsoft YaHei"/>
              </a:rPr>
              <a:t>：</a:t>
            </a:r>
            <a:r>
              <a:rPr lang="zh-CN" sz="1425">
                <a:solidFill>
                  <a:srgbClr val="B0A0A0"/>
                </a:solidFill>
                <a:latin typeface="Microsoft YaHei"/>
                <a:ea typeface="Microsoft YaHei"/>
              </a:rPr>
              <a:t>赛程排班</a:t>
            </a:r>
            <a:r>
              <a:rPr lang="en-US" sz="1425">
                <a:solidFill>
                  <a:srgbClr val="B0A0A0"/>
                </a:solidFill>
                <a:latin typeface="Microsoft YaHei"/>
                <a:ea typeface="Microsoft YaHei"/>
              </a:rPr>
              <a:t> / </a:t>
            </a:r>
            <a:r>
              <a:rPr lang="zh-CN" sz="1425">
                <a:solidFill>
                  <a:srgbClr val="B0A0A0"/>
                </a:solidFill>
                <a:latin typeface="Microsoft YaHei"/>
                <a:ea typeface="Microsoft YaHei"/>
              </a:rPr>
              <a:t>战队看点</a:t>
            </a:r>
            <a:r>
              <a:rPr lang="en-US" sz="1425">
                <a:solidFill>
                  <a:srgbClr val="B0A0A0"/>
                </a:solidFill>
                <a:latin typeface="Microsoft YaHei"/>
                <a:ea typeface="Microsoft YaHei"/>
              </a:rPr>
              <a:t> / </a:t>
            </a:r>
            <a:r>
              <a:rPr lang="zh-CN" sz="1425">
                <a:solidFill>
                  <a:srgbClr val="B0A0A0"/>
                </a:solidFill>
                <a:latin typeface="Microsoft YaHei"/>
                <a:ea typeface="Microsoft YaHei"/>
              </a:rPr>
              <a:t>图形出图</a:t>
            </a:r>
            <a:r>
              <a:rPr lang="en-US" sz="1425">
                <a:solidFill>
                  <a:srgbClr val="B0A0A0"/>
                </a:solidFill>
                <a:latin typeface="Microsoft YaHei"/>
                <a:ea typeface="Microsoft YaHei"/>
              </a:rPr>
              <a:t> / </a:t>
            </a:r>
            <a:r>
              <a:rPr lang="zh-CN" sz="1425">
                <a:solidFill>
                  <a:srgbClr val="B0A0A0"/>
                </a:solidFill>
                <a:latin typeface="Microsoft YaHei"/>
                <a:ea typeface="Microsoft YaHei"/>
              </a:rPr>
              <a:t>战报生成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09600" y="51054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DC3030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57250" y="5029200"/>
            <a:ext cx="28765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F0E8E8"/>
                </a:solidFill>
                <a:latin typeface="Microsoft YaHei"/>
                <a:ea typeface="Microsoft YaHei"/>
              </a:rPr>
              <a:t>协同</a:t>
            </a:r>
            <a:r>
              <a:rPr lang="zh-CN" sz="1425" b="1">
                <a:solidFill>
                  <a:srgbClr val="F0E8E8"/>
                </a:solidFill>
                <a:latin typeface="Microsoft YaHei"/>
                <a:ea typeface="Microsoft YaHei"/>
              </a:rPr>
              <a:t>：</a:t>
            </a:r>
            <a:r>
              <a:rPr lang="en-US" sz="1425">
                <a:solidFill>
                  <a:srgbClr val="B0A0A0"/>
                </a:solidFill>
                <a:latin typeface="Microsoft YaHei"/>
                <a:ea typeface="Microsoft YaHei"/>
              </a:rPr>
              <a:t>7 </a:t>
            </a:r>
            <a:r>
              <a:rPr lang="zh-CN" sz="1425">
                <a:solidFill>
                  <a:srgbClr val="B0A0A0"/>
                </a:solidFill>
                <a:latin typeface="Microsoft YaHei"/>
                <a:ea typeface="Microsoft YaHei"/>
              </a:rPr>
              <a:t>名成员账号，数据实时同步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115050" y="1409700"/>
            <a:ext cx="5467350" cy="4953000"/>
          </a:xfrm>
          <a:prstGeom prst="roundRect">
            <a:avLst>
              <a:gd name="adj" fmla="val 3077"/>
            </a:avLst>
          </a:prstGeom>
          <a:solidFill>
            <a:srgbClr val="DC3030">
              <a:alpha val="6000"/>
            </a:srgbClr>
          </a:solidFill>
          <a:ln/>
        </p:spPr>
        <p:txBody>
          <a:bodyPr/>
          <a:p/>
        </p:txBody>
      </p:sp>
      <p:pic>
        <p:nvPicPr>
          <p:cNvPr id="1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753225" y="2266950"/>
            <a:ext cx="4191000" cy="3238500"/>
          </a:xfrm>
          <a:prstGeom prst="rect">
            <a:avLst/>
          </a:prstGeom>
          <a:ln/>
        </p:spPr>
      </p:pic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B7F7D"/>
                </a:solidFill>
                <a:latin typeface="Microsoft YaHei"/>
                <a:ea typeface="Microsoft YaHei"/>
              </a:rPr>
              <a:t>瓦电赛事运营中台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7F7D"/>
                </a:solidFill>
                <a:latin typeface="Microsoft YaHei"/>
                <a:ea typeface="Microsoft YaHei"/>
              </a:rPr>
              <a:t>04 / 18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02" name="" descr="&lt;Slide style={{ width: '1280px', height: '720px', background: '#120A0B', padding: '40px 64px' }}&gt;&#10;  &lt;Box style={{ height: 80, justifyContent: 'flex-end', borderBottom: '2px solid rgba(220,48,48,0.3)' }}&gt;&#10;    &lt;Text style={{ fontSize: 34, color: '#F0E8E8', fontWeight: 700 }}&gt;技术架构&lt;/Text&gt;&#10;  &lt;/Box&gt;&#10;  &lt;Box style={{ flexDirection: 'row', gap: 44, marginTop: 26, height: 520 }}&gt;&#10;    {/* 左 58%：架构分层图 */}&#10;    &lt;Box style={{ width: '58%', justifyContent: 'center', background: 'rgba(220,48,48,0.06)', borderRadius: 16, padding: 20 }}&gt;&#10;      &lt;svg width={560} height={460} viewBox='0 0 560 460'&gt;&#10;        {/* 层 1 前端 */}&#10;        &lt;rect x='20' y='20' width='520' height='80' rx='10' fill='#1A0D0E' stroke='#DC3030' strokeWidth='1.5' /&gt;&#10;        &lt;text x='40' y='50' fill='#FD2659' fontSize='16' fontWeight='bold'&gt;前端 SPA（Vanilla JS · 全局 App）&lt;/text&gt;&#10;        &lt;text x='40' y='78' fill='#B0A0A0' fontSize='13'&gt;9 大功能模块 · 撤销重做 · 会话独立登录&lt;/text&gt;&#10;        {/* 层 2 托管 */}&#10;        &lt;rect x='20' y='120' width='520' height='70' rx='10' fill='#1A0D0E' stroke='#FD2659' strokeWidth='1.5' /&gt;&#10;        &lt;text x='40' y='148' fill='#F0E8E8' fontSize='16' fontWeight='bold'&gt;静态托管 · GitHub Pages&lt;/text&gt;&#10;        &lt;text x='40' y='174' fill='#B0A0A0' fontSize='13'&gt;纯静态文件，零服务器成本&lt;/text&gt;&#10;        {/* 层 3 云端 */}&#10;        &lt;rect x='20' y='210' width='520' height='80' rx='10' fill='#1A0D0E' stroke='#DC3030' strokeWidth='1.5' /&gt;&#10;        &lt;text x='40' y='240' fill='#FD2659' fontSize='16' fontWeight='bold'&gt;云端数据库 · Supabase&lt;/text&gt;&#10;        &lt;text x='40' y='268' fill='#B0A0A0' fontSize='13'&gt;kv_store 实时同步 · Storage 素材库 · 30s 轮询&lt;/text&gt;&#10;        {/* 层 4 数据 */}&#10;        &lt;rect x='20' y='310' width='520' height='120' rx='10' fill='#1A0D0E' stroke='#FD2659' strokeWidth='1.5' /&gt;&#10;        &lt;text x='40' y='340' fill='#FD2659' fontSize='16' fontWeight='bold'&gt;数据链路&lt;/text&gt;&#10;        &lt;text x='40' y='366' fill='#F0E8E8' fontSize='13'&gt;VLR.gg 零依赖抓取（https+regex，800ms 限速）&lt;/text&gt;&#10;        &lt;text x='40' y='390' fill='#F0E8E8' fontSize='13'&gt;GitHub Actions 每日 06:00 定时拉赛程&lt;/text&gt;&#10;        &lt;text x='40' y='414' fill='#F0E8E8' fontSize='13'&gt;号角 wiki 作人工参考源（不程序化爬取）&lt;/text&gt;&#10;        {/* 连接箭头 */}&#10;        {[100,195,290].map((y,i)=&gt;(&lt;line key={i} x1='280' y1={y} x2='280' y2={y+20} stroke='#DC3030' strokeWidth='2' /&gt;))}&#10;      &lt;/svg&gt;&#10;    &lt;/Box&gt;&#10;    {/* 右 42%：要点 */}&#10;    &lt;Box style={{ width: '42%', justifyContent: 'center', gap: 18 }}&gt;&#10;      &lt;Text style={{ fontSize: 21, color: '#F0E8E8', fontWeight: 700, lineHeight: 1.5 }}&gt;为什么这么搭&lt;/Text&gt;&#10;      {[&#10;        { t: '零后端', d: '静态托管 + BaaS，部署与运维成本极低' },&#10;        { t: '可离线', d: '本地磁盘模式可直接调试，云端自动激活' },&#10;        { t: '可控抓取', d: '自建 Node 抓取器，不被第三方 API 绑死' },&#10;        { t: '信任模型', d: '内部团队工具，anon 共享 key 简化协作' },&#10;      ].map((it, i) =&gt; (&#10;        &lt;Box key={i} style={{ background: 'rgba(220,48,48,0.08)', borderRadius: 10, padding: '13px 18px', borderLeft: '3px solid #FD2659' }}&gt;&#10;          &lt;Text style={{ fontSize: 18, color: '#F0E8E8', fontWeight: 600 }}&gt;{it.t}&lt;/Text&gt;&#10;          &lt;Text style={{ fontSize: 15, color: '#B0A0A0', marginTop: 3, lineHeight: 1.4 }}&gt;{it.d}&lt;/Text&gt;&#10;        &lt;/Box&gt;&#10;      ))}&#10;    &lt;/Box&gt;&#10;  &lt;/Box&gt;&#10;  &lt;Box style={{ position: 'absolute', bottom: 20, left: 64, fontSize: 14, color: '#7B7F7D' }}&gt;瓦电赛事运营中台&lt;/Box&gt;&#10;  &lt;Box style={{ position: 'absolute', bottom: 20, right: 64, fontSize: 14, color: '#7B7F7D' }}&gt;05 / 18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0A0B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609600" y="381000"/>
            <a:ext cx="10972800" cy="762000"/>
          </a:xfrm>
          <a:custGeom>
            <a:pathLst>
              <a:path w="1152" h="80">
                <a:moveTo>
                  <a:pt x="0" y="78"/>
                </a:moveTo>
                <a:lnTo>
                  <a:pt x="1152" y="78"/>
                </a:lnTo>
                <a:lnTo>
                  <a:pt x="1152" y="80"/>
                </a:lnTo>
                <a:lnTo>
                  <a:pt x="0" y="80"/>
                </a:lnTo>
                <a:close/>
              </a:path>
            </a:pathLst>
          </a:custGeom>
          <a:solidFill>
            <a:srgbClr val="DC3030">
              <a:alpha val="30000"/>
            </a:srgbClr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0E8E8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09600" y="1390650"/>
            <a:ext cx="6124575" cy="4953000"/>
          </a:xfrm>
          <a:prstGeom prst="roundRect">
            <a:avLst>
              <a:gd name="adj" fmla="val 3077"/>
            </a:avLst>
          </a:prstGeom>
          <a:solidFill>
            <a:srgbClr val="DC3030">
              <a:alpha val="6000"/>
            </a:srgbClr>
          </a:solidFill>
          <a:ln/>
        </p:spPr>
        <p:txBody>
          <a:bodyPr/>
          <a:p/>
        </p:txBody>
      </p:sp>
      <p:pic>
        <p:nvPicPr>
          <p:cNvPr id="2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676400"/>
            <a:ext cx="5334000" cy="4381500"/>
          </a:xfrm>
          <a:prstGeom prst="rect">
            <a:avLst/>
          </a:prstGeom>
          <a:ln/>
        </p:spPr>
      </p:pic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153275" y="1876425"/>
            <a:ext cx="4429125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F0E8E8"/>
                </a:solidFill>
                <a:latin typeface="Microsoft YaHei"/>
                <a:ea typeface="Microsoft YaHei"/>
              </a:rPr>
              <a:t>为什么这么搭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7181850" y="2409825"/>
            <a:ext cx="4429125" cy="733425"/>
          </a:xfrm>
          <a:prstGeom prst="roundRect">
            <a:avLst>
              <a:gd name="adj" fmla="val 12987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7181850" y="2409825"/>
            <a:ext cx="4429125" cy="733425"/>
          </a:xfrm>
          <a:custGeom>
            <a:pathLst>
              <a:path w="465" h="77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70"/>
                </a:lnTo>
                <a:cubicBezTo>
                  <a:pt x="3" y="73"/>
                  <a:pt x="5" y="76"/>
                  <a:pt x="8" y="77"/>
                </a:cubicBezTo>
                <a:cubicBezTo>
                  <a:pt x="3" y="76"/>
                  <a:pt x="0" y="72"/>
                  <a:pt x="0" y="6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D2659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353300" y="2533650"/>
            <a:ext cx="405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0E8E8"/>
                </a:solidFill>
                <a:latin typeface="Microsoft YaHei"/>
                <a:ea typeface="Microsoft YaHei"/>
              </a:rPr>
              <a:t>零后端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353300" y="2771775"/>
            <a:ext cx="40576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B0A0A0"/>
                </a:solidFill>
                <a:latin typeface="Microsoft YaHei"/>
                <a:ea typeface="Microsoft YaHei"/>
              </a:rPr>
              <a:t>静态托管</a:t>
            </a:r>
            <a:r>
              <a:rPr lang="en-US" sz="1125">
                <a:solidFill>
                  <a:srgbClr val="B0A0A0"/>
                </a:solidFill>
                <a:latin typeface="Microsoft YaHei"/>
                <a:ea typeface="Microsoft YaHei"/>
              </a:rPr>
              <a:t> + BaaS</a:t>
            </a:r>
            <a:r>
              <a:rPr lang="zh-CN" sz="1125">
                <a:solidFill>
                  <a:srgbClr val="B0A0A0"/>
                </a:solidFill>
                <a:latin typeface="Microsoft YaHei"/>
                <a:ea typeface="Microsoft YaHei"/>
              </a:rPr>
              <a:t>，部署与运维成本极低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7181850" y="3314700"/>
            <a:ext cx="4429125" cy="733425"/>
          </a:xfrm>
          <a:prstGeom prst="roundRect">
            <a:avLst>
              <a:gd name="adj" fmla="val 12987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7181850" y="3314700"/>
            <a:ext cx="4429125" cy="733425"/>
          </a:xfrm>
          <a:custGeom>
            <a:pathLst>
              <a:path w="465" h="77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70"/>
                </a:lnTo>
                <a:cubicBezTo>
                  <a:pt x="3" y="73"/>
                  <a:pt x="5" y="76"/>
                  <a:pt x="8" y="77"/>
                </a:cubicBezTo>
                <a:cubicBezTo>
                  <a:pt x="3" y="76"/>
                  <a:pt x="0" y="72"/>
                  <a:pt x="0" y="6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D2659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353300" y="3438525"/>
            <a:ext cx="405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0E8E8"/>
                </a:solidFill>
                <a:latin typeface="Microsoft YaHei"/>
                <a:ea typeface="Microsoft YaHei"/>
              </a:rPr>
              <a:t>可离线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353300" y="3676650"/>
            <a:ext cx="40576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B0A0A0"/>
                </a:solidFill>
                <a:latin typeface="Microsoft YaHei"/>
                <a:ea typeface="Microsoft YaHei"/>
              </a:rPr>
              <a:t>本地磁盘模式可直接调试，云端自动激活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7181850" y="4219575"/>
            <a:ext cx="4429125" cy="733425"/>
          </a:xfrm>
          <a:prstGeom prst="roundRect">
            <a:avLst>
              <a:gd name="adj" fmla="val 12987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7181850" y="4219575"/>
            <a:ext cx="4429125" cy="733425"/>
          </a:xfrm>
          <a:custGeom>
            <a:pathLst>
              <a:path w="465" h="77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70"/>
                </a:lnTo>
                <a:cubicBezTo>
                  <a:pt x="3" y="73"/>
                  <a:pt x="5" y="76"/>
                  <a:pt x="8" y="77"/>
                </a:cubicBezTo>
                <a:cubicBezTo>
                  <a:pt x="3" y="76"/>
                  <a:pt x="0" y="72"/>
                  <a:pt x="0" y="6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D2659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353300" y="4343400"/>
            <a:ext cx="405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0E8E8"/>
                </a:solidFill>
                <a:latin typeface="Microsoft YaHei"/>
                <a:ea typeface="Microsoft YaHei"/>
              </a:rPr>
              <a:t>可控抓取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353300" y="4581525"/>
            <a:ext cx="40576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B0A0A0"/>
                </a:solidFill>
                <a:latin typeface="Microsoft YaHei"/>
                <a:ea typeface="Microsoft YaHei"/>
              </a:rPr>
              <a:t>自建</a:t>
            </a:r>
            <a:r>
              <a:rPr lang="en-US" sz="1125">
                <a:solidFill>
                  <a:srgbClr val="B0A0A0"/>
                </a:solidFill>
                <a:latin typeface="Microsoft YaHei"/>
                <a:ea typeface="Microsoft YaHei"/>
              </a:rPr>
              <a:t> Node </a:t>
            </a:r>
            <a:r>
              <a:rPr lang="zh-CN" sz="1125">
                <a:solidFill>
                  <a:srgbClr val="B0A0A0"/>
                </a:solidFill>
                <a:latin typeface="Microsoft YaHei"/>
                <a:ea typeface="Microsoft YaHei"/>
              </a:rPr>
              <a:t>抓取器，不被第三方</a:t>
            </a:r>
            <a:r>
              <a:rPr lang="en-US" sz="1125">
                <a:solidFill>
                  <a:srgbClr val="B0A0A0"/>
                </a:solidFill>
                <a:latin typeface="Microsoft YaHei"/>
                <a:ea typeface="Microsoft YaHei"/>
              </a:rPr>
              <a:t> API </a:t>
            </a:r>
            <a:r>
              <a:rPr lang="zh-CN" sz="1125">
                <a:solidFill>
                  <a:srgbClr val="B0A0A0"/>
                </a:solidFill>
                <a:latin typeface="Microsoft YaHei"/>
                <a:ea typeface="Microsoft YaHei"/>
              </a:rPr>
              <a:t>绑死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7181850" y="5124450"/>
            <a:ext cx="4429125" cy="733425"/>
          </a:xfrm>
          <a:prstGeom prst="roundRect">
            <a:avLst>
              <a:gd name="adj" fmla="val 12987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222" name=""/>
          <p:cNvSpPr/>
          <p:nvPr/>
        </p:nvSpPr>
        <p:spPr>
          <a:xfrm rot="0" flipH="0" flipV="0">
            <a:off x="7181850" y="5124450"/>
            <a:ext cx="4429125" cy="733425"/>
          </a:xfrm>
          <a:custGeom>
            <a:pathLst>
              <a:path w="465" h="77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70"/>
                </a:lnTo>
                <a:cubicBezTo>
                  <a:pt x="3" y="73"/>
                  <a:pt x="5" y="76"/>
                  <a:pt x="8" y="77"/>
                </a:cubicBezTo>
                <a:cubicBezTo>
                  <a:pt x="3" y="76"/>
                  <a:pt x="0" y="72"/>
                  <a:pt x="0" y="6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D2659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353300" y="5248275"/>
            <a:ext cx="405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0E8E8"/>
                </a:solidFill>
                <a:latin typeface="Microsoft YaHei"/>
                <a:ea typeface="Microsoft YaHei"/>
              </a:rPr>
              <a:t>信任模型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353300" y="5486400"/>
            <a:ext cx="40576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B0A0A0"/>
                </a:solidFill>
                <a:latin typeface="Microsoft YaHei"/>
                <a:ea typeface="Microsoft YaHei"/>
              </a:rPr>
              <a:t>内部团队工具，</a:t>
            </a:r>
            <a:r>
              <a:rPr lang="en-US" sz="1125">
                <a:solidFill>
                  <a:srgbClr val="B0A0A0"/>
                </a:solidFill>
                <a:latin typeface="Microsoft YaHei"/>
                <a:ea typeface="Microsoft YaHei"/>
              </a:rPr>
              <a:t>anon </a:t>
            </a:r>
            <a:r>
              <a:rPr lang="zh-CN" sz="1125">
                <a:solidFill>
                  <a:srgbClr val="B0A0A0"/>
                </a:solidFill>
                <a:latin typeface="Microsoft YaHei"/>
                <a:ea typeface="Microsoft YaHei"/>
              </a:rPr>
              <a:t>共享</a:t>
            </a:r>
            <a:r>
              <a:rPr lang="en-US" sz="1125">
                <a:solidFill>
                  <a:srgbClr val="B0A0A0"/>
                </a:solidFill>
                <a:latin typeface="Microsoft YaHei"/>
                <a:ea typeface="Microsoft YaHei"/>
              </a:rPr>
              <a:t> key </a:t>
            </a:r>
            <a:r>
              <a:rPr lang="zh-CN" sz="1125">
                <a:solidFill>
                  <a:srgbClr val="B0A0A0"/>
                </a:solidFill>
                <a:latin typeface="Microsoft YaHei"/>
                <a:ea typeface="Microsoft YaHei"/>
              </a:rPr>
              <a:t>简化协作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B7F7D"/>
                </a:solidFill>
                <a:latin typeface="Microsoft YaHei"/>
                <a:ea typeface="Microsoft YaHei"/>
              </a:rPr>
              <a:t>瓦电赛事运营中台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7F7D"/>
                </a:solidFill>
                <a:latin typeface="Microsoft YaHei"/>
                <a:ea typeface="Microsoft YaHei"/>
              </a:rPr>
              <a:t>05 / 18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27" name="" descr="&lt;Slide style={{ width: '1280px', height: '720px', background: 'linear-gradient(135deg, #120A0B 0%, #241215 100%)', padding: 0, position: 'relative' }}&gt;&#10;  &lt;Box style={{ position: 'absolute', top: 0, right: 0, width: 460, height: 460, background: 'linear-gradient(135deg, rgba(220,48,48,0.18) 0%, transparent 70%)' }} /&gt;&#10;  &lt;Box style={{ position: 'absolute', left: 90, top: 250 }}&gt;&#10;    &lt;Text style={{ fontSize: 200, color: 'rgba(220,48,48,0.18)', fontWeight: 800, lineHeight: 1 }}&gt;02&lt;/Text&gt;&#10;  &lt;/Box&gt;&#10;  &lt;Box style={{ position: 'absolute', left: 130, top: 320, zIndex: 2 }}&gt;&#10;    &lt;Text style={{ fontSize: 22, color: '#FD2659', fontWeight: 'bold', letterSpacing: 4 }}&gt;CHAPTER 02&lt;/Text&gt;&#10;    &lt;Text style={{ fontSize: 56, color: '#F0E8E8', fontWeight: 800, marginTop: 14 }}&gt;核心功能&lt;/Text&gt;&#10;    &lt;Box style={{ width: 90, height: 5, background: '#DC3030', marginTop: 22, borderRadius: 3 }} /&gt;&#10;    &lt;Text style={{ fontSize: 20, color: '#B0A0A0', marginTop: 22 }}&gt;赛程排班、战队库、图形工厂、赛况战报。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0A0B"/>
              </a:gs>
              <a:gs pos="100000">
                <a:srgbClr val="241215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7810500" y="0"/>
            <a:ext cx="4381500" cy="4381500"/>
          </a:xfrm>
          <a:prstGeom prst="rect">
            <a:avLst/>
          </a:prstGeom>
          <a:gradFill>
            <a:gsLst>
              <a:gs pos="0">
                <a:srgbClr val="DC3030">
                  <a:alpha val="18000"/>
                </a:srgbClr>
              </a:gs>
              <a:gs pos="7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57250" y="238125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DC3030">
                    <a:alpha val="1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238250" y="304800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300">
                <a:solidFill>
                  <a:srgbClr val="FD2659"/>
                </a:solidFill>
                <a:latin typeface="Microsoft YaHei"/>
                <a:ea typeface="Microsoft YaHei"/>
              </a:rPr>
              <a:t>CHAPTER 02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238250" y="3438525"/>
            <a:ext cx="36195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0E8E8"/>
                </a:solidFill>
                <a:latin typeface="Microsoft YaHei"/>
                <a:ea typeface="Microsoft YaHei"/>
              </a:rPr>
              <a:t>核心功能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1238250" y="4295775"/>
            <a:ext cx="857250" cy="47625"/>
          </a:xfrm>
          <a:prstGeom prst="roundRect">
            <a:avLst>
              <a:gd name="adj" fmla="val 60000"/>
            </a:avLst>
          </a:prstGeom>
          <a:solidFill>
            <a:srgbClr val="DC3030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238250" y="4552950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B0A0A0"/>
                </a:solidFill>
                <a:latin typeface="Microsoft YaHei"/>
                <a:ea typeface="Microsoft YaHei"/>
              </a:rPr>
              <a:t>赛程排班、战队库、图形工厂、赛况战报。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35" name="" descr="&lt;Slide style={{ width: '1280px', height: '720px', background: 'linear-gradient(135deg, #120A0B 0%, #241215 100%)', padding: '40px 64px' }}&gt;&#10;  &lt;Box style={{ height: 80, justifyContent: 'flex-end', borderBottom: '2px solid rgba(253,38,89,0.4)' }}&gt;&#10;    &lt;Text style={{ fontSize: 34, color: '#F0E8E8', fontWeight: 700 }}&gt;功能总览 · 10 大模块一图速览&lt;/Text&gt;&#10;  &lt;/Box&gt;&#10;  &lt;Box style={{ flexDirection: 'row', gap: 40, marginTop: 24, height: 520 }}&gt;&#10;    {/* 左：巨型数字锚点 */}&#10;    &lt;Box style={{ width: '30%', justifyContent: 'center', alignItems: 'center' }}&gt;&#10;      &lt;Text style={{ fontSize: 180, color: '#FD2659', fontWeight: 800, lineHeight: 1 }}&gt;10&lt;/Text&gt;&#10;      &lt;Text style={{ fontSize: 22, color: '#F0E8E8', fontWeight: 600, marginTop: 4 }}&gt;大已上线功能模块&lt;/Text&gt;&#10;      &lt;Text style={{ fontSize: 16, color: '#B0A0A0', marginTop: 10, textAlign: 'center', lineHeight: 1.5 }}&gt;覆盖赛事运营&lt;br /&gt;全流程工作台&lt;/Text&gt;&#10;    &lt;/Box&gt;&#10;    {/* 右：模块矩阵（每个模块一行用途） */}&#10;    &lt;Box style={{ width: '70%', flexWrap: 'wrap', flexDirection: 'row', gap: 12, alignContent: 'center' }}&gt;&#10;      {[&#10;        { t: '赛程管理', d: 'VLR 抓取 VCT 赛程，UTC 自动转北京时间', i: 'calendar' },&#10;        { t: '运营排班', d: '值班/请假/班次可视化，避免人员冲突', i: 'users' },&#10;        { t: '战队库', d: '50 队全赛区注册表，支持手动新建队伍', i: 'shield' },&#10;        { t: '看点挖掘', d: 'H2H 交锋/阵容恩怨，自动生成预热文案', i: 'star' },&#10;        { t: '图形工厂', d: '底图+槽位拖拽，中英双图批量出图打包', i: 'image' },&#10;        { t: '赛况战报', d: '抓海外三联赛，固定模板一键出 Markdown', i: 'file-text' },&#10;        { t: '内容管理', d: '社媒文案/标题草稿集中编辑与归档', i: 'edit' },&#10;        { t: '知识库', d: '赛事规则/历史梗/素材规范统一沉淀', i: 'book' },&#10;        { t: '素材后台', d: '管理员录入队徽/头像/教练/解说图', i: 'folder' },&#10;        { t: '工作交接', d: '值班↔休假双向待办交付，自动归集+确认', i: 'exchange' },&#10;      ].map((m, i) =&gt; (&#10;        &lt;Box key={i} style={{ width: '31.5%', flexDirection: 'row', alignItems: 'center', gap: 10, background: 'rgba(220,48,48,0.08)', borderRadius: 10, padding: '12px 14px' }}&gt;&#10;          &lt;FAIcon name={m.i} style={{ fill: '#FD2659', width: 22, height: 22, flexShrink: 0 }} /&gt;&#10;          &lt;Box&gt;&#10;            &lt;Text style={{ fontSize: 16, color: '#F0E8E8', fontWeight: 600 }}&gt;{m.t}&lt;/Text&gt;&#10;            &lt;Text style={{ fontSize: 12, color: '#B0A0A0', marginTop: 1, lineHeight: 1.3 }}&gt;{m.d}&lt;/Text&gt;&#10;          &lt;/Box&gt;&#10;        &lt;/Box&gt;&#10;      ))}&#10;    &lt;/Box&gt;&#10;  &lt;/Box&gt;&#10;  &lt;Box style={{ position: 'absolute', bottom: 20, left: 64, fontSize: 14, color: '#7B7F7D' }}&gt;瓦电赛事运营中台&lt;/Box&gt;&#10;  &lt;Box style={{ position: 'absolute', bottom: 20, right: 64, fontSize: 14, color: '#7B7F7D' }}&gt;07 / 18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0A0B"/>
              </a:gs>
              <a:gs pos="100000">
                <a:srgbClr val="241215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609600" y="381000"/>
            <a:ext cx="10972800" cy="762000"/>
          </a:xfrm>
          <a:custGeom>
            <a:pathLst>
              <a:path w="1152" h="80">
                <a:moveTo>
                  <a:pt x="0" y="78"/>
                </a:moveTo>
                <a:lnTo>
                  <a:pt x="1152" y="78"/>
                </a:lnTo>
                <a:lnTo>
                  <a:pt x="1152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D2659">
              <a:alpha val="40000"/>
            </a:srgbClr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0E8E8"/>
                </a:solidFill>
                <a:latin typeface="Microsoft YaHei"/>
                <a:ea typeface="Microsoft YaHei"/>
              </a:rPr>
              <a:t>功能总览</a:t>
            </a:r>
            <a:r>
              <a:rPr lang="en-US" sz="2550" b="1">
                <a:solidFill>
                  <a:srgbClr val="F0E8E8"/>
                </a:solidFill>
                <a:latin typeface="Microsoft YaHei"/>
                <a:ea typeface="Microsoft YaHei"/>
              </a:rPr>
              <a:t> · 10 </a:t>
            </a:r>
            <a:r>
              <a:rPr lang="zh-CN" sz="2550" b="1">
                <a:solidFill>
                  <a:srgbClr val="F0E8E8"/>
                </a:solidFill>
                <a:latin typeface="Microsoft YaHei"/>
                <a:ea typeface="Microsoft YaHei"/>
              </a:rPr>
              <a:t>大模块一图速览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43000" y="2352675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FD2659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362075" y="4448175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0E8E8"/>
                </a:solidFill>
                <a:latin typeface="Microsoft YaHei"/>
                <a:ea typeface="Microsoft YaHei"/>
              </a:rPr>
              <a:t>大已上线功能模块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743075" y="4800600"/>
            <a:ext cx="914400" cy="5524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B0A0A0"/>
                </a:solidFill>
                <a:latin typeface="Microsoft YaHei"/>
                <a:ea typeface="Microsoft YaHei"/>
              </a:rPr>
              <a:t>覆盖赛事运营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B0A0A0"/>
                </a:solidFill>
                <a:latin typeface="Microsoft YaHei"/>
                <a:ea typeface="Microsoft YaHei"/>
              </a:rPr>
              <a:t>全流程工作台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4171950" y="1371600"/>
            <a:ext cx="2333625" cy="1200150"/>
          </a:xfrm>
          <a:prstGeom prst="roundRect">
            <a:avLst>
              <a:gd name="adj" fmla="val 7937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pic>
        <p:nvPicPr>
          <p:cNvPr id="2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05300" y="1866900"/>
            <a:ext cx="209550" cy="209550"/>
          </a:xfrm>
          <a:prstGeom prst="rect">
            <a:avLst/>
          </a:prstGeom>
          <a:ln/>
        </p:spPr>
      </p:pic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610100" y="1695450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0E8E8"/>
                </a:solidFill>
                <a:latin typeface="Microsoft YaHei"/>
                <a:ea typeface="Microsoft YaHei"/>
              </a:rPr>
              <a:t>赛程管理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610100" y="1895475"/>
            <a:ext cx="1762125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VLR </a:t>
            </a: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抓取</a:t>
            </a: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 VCT </a:t>
            </a: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赛程，</a:t>
            </a: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UTC </a:t>
            </a: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自动转北京时间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619875" y="1371600"/>
            <a:ext cx="2333625" cy="1200150"/>
          </a:xfrm>
          <a:prstGeom prst="roundRect">
            <a:avLst>
              <a:gd name="adj" fmla="val 7937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pic>
        <p:nvPicPr>
          <p:cNvPr id="2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53225" y="1866900"/>
            <a:ext cx="209550" cy="209550"/>
          </a:xfrm>
          <a:prstGeom prst="rect">
            <a:avLst/>
          </a:prstGeom>
          <a:ln/>
        </p:spPr>
      </p:pic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058025" y="1781175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0E8E8"/>
                </a:solidFill>
                <a:latin typeface="Microsoft YaHei"/>
                <a:ea typeface="Microsoft YaHei"/>
              </a:rPr>
              <a:t>运营排班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058025" y="1981200"/>
            <a:ext cx="1762125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值班</a:t>
            </a: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请假</a:t>
            </a: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班次可视化，避免人员冲突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9067800" y="1371600"/>
            <a:ext cx="2333625" cy="1200150"/>
          </a:xfrm>
          <a:prstGeom prst="roundRect">
            <a:avLst>
              <a:gd name="adj" fmla="val 7937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pic>
        <p:nvPicPr>
          <p:cNvPr id="2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201150" y="1866900"/>
            <a:ext cx="209550" cy="209550"/>
          </a:xfrm>
          <a:prstGeom prst="rect">
            <a:avLst/>
          </a:prstGeom>
          <a:ln/>
        </p:spPr>
      </p:pic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9505950" y="1781175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0E8E8"/>
                </a:solidFill>
                <a:latin typeface="Microsoft YaHei"/>
                <a:ea typeface="Microsoft YaHei"/>
              </a:rPr>
              <a:t>战队库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505950" y="1981200"/>
            <a:ext cx="1762125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50 </a:t>
            </a: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队全赛区注册表，支持手动新建队伍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4171950" y="2686050"/>
            <a:ext cx="2333625" cy="1200150"/>
          </a:xfrm>
          <a:prstGeom prst="roundRect">
            <a:avLst>
              <a:gd name="adj" fmla="val 7937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pic>
        <p:nvPicPr>
          <p:cNvPr id="2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305300" y="3181350"/>
            <a:ext cx="209550" cy="209550"/>
          </a:xfrm>
          <a:prstGeom prst="rect">
            <a:avLst/>
          </a:prstGeom>
          <a:ln/>
        </p:spPr>
      </p:pic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4610100" y="3095625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0E8E8"/>
                </a:solidFill>
                <a:latin typeface="Microsoft YaHei"/>
                <a:ea typeface="Microsoft YaHei"/>
              </a:rPr>
              <a:t>看点挖掘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4610100" y="3295650"/>
            <a:ext cx="1762125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H2H </a:t>
            </a: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交锋</a:t>
            </a: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阵容恩怨，自动生成预热文案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619875" y="2686050"/>
            <a:ext cx="2333625" cy="1200150"/>
          </a:xfrm>
          <a:prstGeom prst="roundRect">
            <a:avLst>
              <a:gd name="adj" fmla="val 7937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pic>
        <p:nvPicPr>
          <p:cNvPr id="2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753225" y="3181350"/>
            <a:ext cx="209550" cy="209550"/>
          </a:xfrm>
          <a:prstGeom prst="rect">
            <a:avLst/>
          </a:prstGeom>
          <a:ln/>
        </p:spPr>
      </p:pic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7058025" y="3095625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0E8E8"/>
                </a:solidFill>
                <a:latin typeface="Microsoft YaHei"/>
                <a:ea typeface="Microsoft YaHei"/>
              </a:rPr>
              <a:t>图形工厂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058025" y="3295650"/>
            <a:ext cx="1762125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底图</a:t>
            </a: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+</a:t>
            </a: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槽位拖拽，中英双图批量出图打包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9067800" y="2686050"/>
            <a:ext cx="2333625" cy="1200150"/>
          </a:xfrm>
          <a:prstGeom prst="roundRect">
            <a:avLst>
              <a:gd name="adj" fmla="val 7937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pic>
        <p:nvPicPr>
          <p:cNvPr id="2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9201150" y="3181350"/>
            <a:ext cx="209550" cy="209550"/>
          </a:xfrm>
          <a:prstGeom prst="rect">
            <a:avLst/>
          </a:prstGeom>
          <a:ln/>
        </p:spPr>
      </p:pic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9505950" y="3009900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0E8E8"/>
                </a:solidFill>
                <a:latin typeface="Microsoft YaHei"/>
                <a:ea typeface="Microsoft YaHei"/>
              </a:rPr>
              <a:t>赛况战报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9505950" y="3209925"/>
            <a:ext cx="1762125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抓海外三联赛，固定模板一键出</a:t>
            </a: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 Markdown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4171950" y="4000500"/>
            <a:ext cx="2333625" cy="1009650"/>
          </a:xfrm>
          <a:prstGeom prst="roundRect">
            <a:avLst>
              <a:gd name="adj" fmla="val 9434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pic>
        <p:nvPicPr>
          <p:cNvPr id="2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4305300" y="4400550"/>
            <a:ext cx="209550" cy="209550"/>
          </a:xfrm>
          <a:prstGeom prst="rect">
            <a:avLst/>
          </a:prstGeom>
          <a:ln/>
        </p:spPr>
      </p:pic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610100" y="4314825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0E8E8"/>
                </a:solidFill>
                <a:latin typeface="Microsoft YaHei"/>
                <a:ea typeface="Microsoft YaHei"/>
              </a:rPr>
              <a:t>内容管理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610100" y="4514850"/>
            <a:ext cx="1762125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社媒文案</a:t>
            </a: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标题草稿集中编辑与归档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619875" y="4000500"/>
            <a:ext cx="2333625" cy="1009650"/>
          </a:xfrm>
          <a:prstGeom prst="roundRect">
            <a:avLst>
              <a:gd name="adj" fmla="val 9434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pic>
        <p:nvPicPr>
          <p:cNvPr id="2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6753225" y="4400550"/>
            <a:ext cx="209550" cy="209550"/>
          </a:xfrm>
          <a:prstGeom prst="rect">
            <a:avLst/>
          </a:prstGeom>
          <a:ln/>
        </p:spPr>
      </p:pic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058025" y="4314825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0E8E8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058025" y="4514850"/>
            <a:ext cx="1762125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赛事规则</a:t>
            </a: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历史梗</a:t>
            </a: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素材规范统一沉淀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9067800" y="4000500"/>
            <a:ext cx="2333625" cy="1009650"/>
          </a:xfrm>
          <a:prstGeom prst="roundRect">
            <a:avLst>
              <a:gd name="adj" fmla="val 9434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pic>
        <p:nvPicPr>
          <p:cNvPr id="2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9201150" y="4400550"/>
            <a:ext cx="209550" cy="209550"/>
          </a:xfrm>
          <a:prstGeom prst="rect">
            <a:avLst/>
          </a:prstGeom>
          <a:ln/>
        </p:spPr>
      </p:pic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9505950" y="4314825"/>
            <a:ext cx="1752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0E8E8"/>
                </a:solidFill>
                <a:latin typeface="Microsoft YaHei"/>
                <a:ea typeface="Microsoft YaHei"/>
              </a:rPr>
              <a:t>素材后台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9505950" y="4514850"/>
            <a:ext cx="175260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管理员录入队徽</a:t>
            </a: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头像</a:t>
            </a: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教练</a:t>
            </a: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解说图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4171950" y="5124450"/>
            <a:ext cx="2333625" cy="1200150"/>
          </a:xfrm>
          <a:prstGeom prst="roundRect">
            <a:avLst>
              <a:gd name="adj" fmla="val 7937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pic>
        <p:nvPicPr>
          <p:cNvPr id="2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 rot="0" flipH="0" flipV="0">
            <a:off x="4305300" y="5619750"/>
            <a:ext cx="209550" cy="209550"/>
          </a:xfrm>
          <a:prstGeom prst="rect">
            <a:avLst/>
          </a:prstGeom>
          <a:ln/>
        </p:spPr>
      </p:pic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4610100" y="5448300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0E8E8"/>
                </a:solidFill>
                <a:latin typeface="Microsoft YaHei"/>
                <a:ea typeface="Microsoft YaHei"/>
              </a:rPr>
              <a:t>工作交接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610100" y="5648325"/>
            <a:ext cx="1762125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值班↔休假双向待办交付，自动归集</a:t>
            </a:r>
            <a:r>
              <a:rPr lang="en-US" sz="900">
                <a:solidFill>
                  <a:srgbClr val="B0A0A0"/>
                </a:solidFill>
                <a:latin typeface="Microsoft YaHei"/>
                <a:ea typeface="Microsoft YaHei"/>
              </a:rPr>
              <a:t>+</a:t>
            </a:r>
            <a:r>
              <a:rPr lang="zh-CN" sz="900">
                <a:solidFill>
                  <a:srgbClr val="B0A0A0"/>
                </a:solidFill>
                <a:latin typeface="Microsoft YaHei"/>
                <a:ea typeface="Microsoft YaHei"/>
              </a:rPr>
              <a:t>确认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B7F7D"/>
                </a:solidFill>
                <a:latin typeface="Microsoft YaHei"/>
                <a:ea typeface="Microsoft YaHei"/>
              </a:rPr>
              <a:t>瓦电赛事运营中台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7F7D"/>
                </a:solidFill>
                <a:latin typeface="Microsoft YaHei"/>
                <a:ea typeface="Microsoft YaHei"/>
              </a:rPr>
              <a:t>07 / 18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84" name="" descr="&lt;Slide style={{ width: '1280px', height: '720px', background: '#120A0B', padding: '40px 64px' }}&gt;&#10;  &lt;Box style={{ height: 80, justifyContent: 'flex-end', borderBottom: '2px solid rgba(220,48,48,0.3)' }}&gt;&#10;    &lt;Text style={{ fontSize: 34, color: '#F0E8E8', fontWeight: 700 }}&gt;赛程与排班管理&lt;/Text&gt;&#10;  &lt;/Box&gt;&#10;  &lt;Box style={{ flexDirection: 'row', gap: 44, marginTop: 26, height: 520 }}&gt;&#10;    {/* 左 55%：日历示意 */}&#10;    &lt;Box style={{ width: '55%', justifyContent: 'center', alignItems: 'center', background: 'rgba(220,48,48,0.06)', borderRadius: 16 }}&gt;&#10;      &lt;svg width={480} height={380} viewBox='0 0 480 380'&gt;&#10;        &lt;rect x='20' y='20' width='440' height='340' rx='12' fill='#1A0D0E' stroke='#DC3030' strokeWidth='1.5' /&gt;&#10;        &lt;rect x='20' y='20' width='440' height='50' rx='12' fill='#DC3030' /&gt;&#10;        &lt;text x='240' y='52' fill='#fff' fontSize='18' fontWeight='bold' textAnchor='middle'&gt;VCT CN · 第二赛段（北京时间）&lt;/text&gt;&#10;        {/* 对阵行 */}&#10;        {[['EDG', 'TE', '18:00', '#FD2659'],['WOL', 'JDG', '20:00', '#FD2659'],['TYL', 'AG', '21:00', '#FD2659']].map((r,i)=&gt;(&#10;          &lt;g key={i}&gt;&#10;            &lt;rect x='40' y={90+i*80} width='400' height='64' rx='8' fill='#120A0B' stroke='#FD2659' strokeWidth='1' /&gt;&#10;            &lt;text x='70' y={128+i*80} fill='#F0E8E8' fontSize='18' fontWeight='bold'&gt;{r[0]}&lt;/text&gt;&#10;            &lt;text x='240' y={128+i*80} fill='#B0A0A0' fontSize='16' textAnchor='middle'&gt;VS&lt;/text&gt;&#10;            &lt;text x='410' y={128+i*80} fill='#F0E8E8' fontSize='18' fontWeight='bold' textAnchor='end'&gt;{r[1]}&lt;/text&gt;&#10;            &lt;text x='420' y={104+i*80} fill={r[3]} fontSize='13' textAnchor='end'&gt;{r[2]}&lt;/text&gt;&#10;          &lt;/g&gt;&#10;        ))}&#10;      &lt;/svg&gt;&#10;    &lt;/Box&gt;&#10;    {/* 右 45%：要点 */}&#10;    &lt;Box style={{ width: '45%', justifyContent: 'center', gap: 16 }}&gt;&#10;      &lt;Text style={{ fontSize: 21, color: '#F0E8E8', fontWeight: 700, lineHeight: 1.5 }}&gt;自动抓，本地管&lt;/Text&gt;&#10;      {[&#10;        { t: '赛程自动抓取', d: 'VLR 海外赛程拉回本地，UTC 时间自动换算北京时间，免去人工查表' },&#10;        { t: '运营排班', d: '按班次/岗位排值班，支持请假、调班与跨日轮值' },&#10;        { t: '冲突可视化', d: '排班面板直观呈现人员重叠与空缺，防漏排错排' },&#10;        { t: '手动兜底', d: '抓取异常时可手工录入修正，自动与人工并行不冲突' },&#10;      ].map((it, i) =&gt; (&#10;        &lt;Box key={i} style={{ flexDirection: 'row', gap: 14, alignItems: 'flex-start' }}&gt;&#10;          &lt;FAIcon name='check-circle' style={{ fill: '#49FFD3', width: 24, height: 24, marginTop: 2 }} /&gt;&#10;          &lt;Box&gt;&#10;            &lt;Text style={{ fontSize: 18, color: '#F0E8E8', fontWeight: 600 }}&gt;{it.t}&lt;/Text&gt;&#10;            &lt;Text style={{ fontSize: 15, color: '#B0A0A0', marginTop: 2, lineHeight: 1.4 }}&gt;{it.d}&lt;/Text&gt;&#10;          &lt;/Box&gt;&#10;        &lt;/Box&gt;&#10;      ))}&#10;    &lt;/Box&gt;&#10;  &lt;/Box&gt;&#10;  &lt;Box style={{ position: 'absolute', bottom: 20, left: 64, fontSize: 14, color: '#7B7F7D' }}&gt;瓦电赛事运营中台&lt;/Box&gt;&#10;  &lt;Box style={{ position: 'absolute', bottom: 20, right: 64, fontSize: 14, color: '#7B7F7D' }}&gt;08 / 18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0A0B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609600" y="381000"/>
            <a:ext cx="10972800" cy="762000"/>
          </a:xfrm>
          <a:custGeom>
            <a:pathLst>
              <a:path w="1152" h="80">
                <a:moveTo>
                  <a:pt x="0" y="78"/>
                </a:moveTo>
                <a:lnTo>
                  <a:pt x="1152" y="78"/>
                </a:lnTo>
                <a:lnTo>
                  <a:pt x="1152" y="80"/>
                </a:lnTo>
                <a:lnTo>
                  <a:pt x="0" y="80"/>
                </a:lnTo>
                <a:close/>
              </a:path>
            </a:pathLst>
          </a:custGeom>
          <a:solidFill>
            <a:srgbClr val="DC3030">
              <a:alpha val="30000"/>
            </a:srgbClr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0E8E8"/>
                </a:solidFill>
                <a:latin typeface="Microsoft YaHei"/>
                <a:ea typeface="Microsoft YaHei"/>
              </a:rPr>
              <a:t>赛程与排班管理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609600" y="1390650"/>
            <a:ext cx="5800725" cy="4953000"/>
          </a:xfrm>
          <a:prstGeom prst="roundRect">
            <a:avLst>
              <a:gd name="adj" fmla="val 3077"/>
            </a:avLst>
          </a:prstGeom>
          <a:solidFill>
            <a:srgbClr val="DC3030">
              <a:alpha val="6000"/>
            </a:srgbClr>
          </a:solidFill>
          <a:ln/>
        </p:spPr>
        <p:txBody>
          <a:bodyPr/>
          <a:p/>
        </p:txBody>
      </p:sp>
      <p:pic>
        <p:nvPicPr>
          <p:cNvPr id="2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228725" y="2057400"/>
            <a:ext cx="4572000" cy="3619500"/>
          </a:xfrm>
          <a:prstGeom prst="rect">
            <a:avLst/>
          </a:prstGeom>
          <a:ln/>
        </p:spPr>
      </p:pic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829425" y="2428875"/>
            <a:ext cx="4752975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F0E8E8"/>
                </a:solidFill>
                <a:latin typeface="Microsoft YaHei"/>
                <a:ea typeface="Microsoft YaHei"/>
              </a:rPr>
              <a:t>自动抓，本地管</a:t>
            </a:r>
            <a:endParaRPr/>
          </a:p>
        </p:txBody>
      </p:sp>
      <p:pic>
        <p:nvPicPr>
          <p:cNvPr id="2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29425" y="2962275"/>
            <a:ext cx="228600" cy="228600"/>
          </a:xfrm>
          <a:prstGeom prst="rect">
            <a:avLst/>
          </a:prstGeom>
          <a:ln/>
        </p:spPr>
      </p:pic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191375" y="2943225"/>
            <a:ext cx="4343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0E8E8"/>
                </a:solidFill>
                <a:latin typeface="Microsoft YaHei"/>
                <a:ea typeface="Microsoft YaHei"/>
              </a:rPr>
              <a:t>赛程自动抓取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191375" y="3171825"/>
            <a:ext cx="43434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B0A0A0"/>
                </a:solidFill>
                <a:latin typeface="Microsoft YaHei"/>
                <a:ea typeface="Microsoft YaHei"/>
              </a:rPr>
              <a:t>VLR </a:t>
            </a:r>
            <a:r>
              <a:rPr lang="zh-CN" sz="1125">
                <a:solidFill>
                  <a:srgbClr val="B0A0A0"/>
                </a:solidFill>
                <a:latin typeface="Microsoft YaHei"/>
                <a:ea typeface="Microsoft YaHei"/>
              </a:rPr>
              <a:t>海外赛程拉回本地，</a:t>
            </a:r>
            <a:r>
              <a:rPr lang="en-US" sz="1125">
                <a:solidFill>
                  <a:srgbClr val="B0A0A0"/>
                </a:solidFill>
                <a:latin typeface="Microsoft YaHei"/>
                <a:ea typeface="Microsoft YaHei"/>
              </a:rPr>
              <a:t>UTC </a:t>
            </a:r>
            <a:r>
              <a:rPr lang="zh-CN" sz="1125">
                <a:solidFill>
                  <a:srgbClr val="B0A0A0"/>
                </a:solidFill>
                <a:latin typeface="Microsoft YaHei"/>
                <a:ea typeface="Microsoft YaHei"/>
              </a:rPr>
              <a:t>时间自动换算北京时间，免去人工查表</a:t>
            </a:r>
            <a:endParaRPr/>
          </a:p>
        </p:txBody>
      </p:sp>
      <p:pic>
        <p:nvPicPr>
          <p:cNvPr id="2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29425" y="3590925"/>
            <a:ext cx="228600" cy="228600"/>
          </a:xfrm>
          <a:prstGeom prst="rect">
            <a:avLst/>
          </a:prstGeom>
          <a:ln/>
        </p:spPr>
      </p:pic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191375" y="3571875"/>
            <a:ext cx="3067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0E8E8"/>
                </a:solidFill>
                <a:latin typeface="Microsoft YaHei"/>
                <a:ea typeface="Microsoft YaHei"/>
              </a:rPr>
              <a:t>运营排班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7191375" y="3800475"/>
            <a:ext cx="30670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B0A0A0"/>
                </a:solidFill>
                <a:latin typeface="Microsoft YaHei"/>
                <a:ea typeface="Microsoft YaHei"/>
              </a:rPr>
              <a:t>按班次</a:t>
            </a:r>
            <a:r>
              <a:rPr lang="en-US" sz="1125">
                <a:solidFill>
                  <a:srgbClr val="B0A0A0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B0A0A0"/>
                </a:solidFill>
                <a:latin typeface="Microsoft YaHei"/>
                <a:ea typeface="Microsoft YaHei"/>
              </a:rPr>
              <a:t>岗位排值班，支持请假、调班与跨日轮值</a:t>
            </a:r>
            <a:endParaRPr/>
          </a:p>
        </p:txBody>
      </p:sp>
      <p:pic>
        <p:nvPicPr>
          <p:cNvPr id="2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29425" y="4219575"/>
            <a:ext cx="228600" cy="228600"/>
          </a:xfrm>
          <a:prstGeom prst="rect">
            <a:avLst/>
          </a:prstGeom>
          <a:ln/>
        </p:spPr>
      </p:pic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191375" y="4200525"/>
            <a:ext cx="3000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0E8E8"/>
                </a:solidFill>
                <a:latin typeface="Microsoft YaHei"/>
                <a:ea typeface="Microsoft YaHei"/>
              </a:rPr>
              <a:t>冲突可视化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7191375" y="4429125"/>
            <a:ext cx="300037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B0A0A0"/>
                </a:solidFill>
                <a:latin typeface="Microsoft YaHei"/>
                <a:ea typeface="Microsoft YaHei"/>
              </a:rPr>
              <a:t>排班面板直观呈现人员重叠与空缺，防漏排错排</a:t>
            </a:r>
            <a:endParaRPr/>
          </a:p>
        </p:txBody>
      </p:sp>
      <p:pic>
        <p:nvPicPr>
          <p:cNvPr id="3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29425" y="4848225"/>
            <a:ext cx="228600" cy="228600"/>
          </a:xfrm>
          <a:prstGeom prst="rect">
            <a:avLst/>
          </a:prstGeom>
          <a:ln/>
        </p:spPr>
      </p:pic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191375" y="4829175"/>
            <a:ext cx="3286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0E8E8"/>
                </a:solidFill>
                <a:latin typeface="Microsoft YaHei"/>
                <a:ea typeface="Microsoft YaHei"/>
              </a:rPr>
              <a:t>手动兜底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191375" y="5057775"/>
            <a:ext cx="3286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B0A0A0"/>
                </a:solidFill>
                <a:latin typeface="Microsoft YaHei"/>
                <a:ea typeface="Microsoft YaHei"/>
              </a:rPr>
              <a:t>抓取异常时可手工录入修正，自动与人工并行不冲突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B7F7D"/>
                </a:solidFill>
                <a:latin typeface="Microsoft YaHei"/>
                <a:ea typeface="Microsoft YaHei"/>
              </a:rPr>
              <a:t>瓦电赛事运营中台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7F7D"/>
                </a:solidFill>
                <a:latin typeface="Microsoft YaHei"/>
                <a:ea typeface="Microsoft YaHei"/>
              </a:rPr>
              <a:t>08 / 18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05" name="" descr="&lt;Slide style={{ width: '1280px', height: '720px', background: '#120A0B', padding: '40px 64px' }}&gt;&#10;  &lt;Box style={{ height: 80, justifyContent: 'flex-end', borderBottom: '2px solid rgba(220,48,48,0.3)' }}&gt;&#10;    &lt;Text style={{ fontSize: 34, color: '#F0E8E8', fontWeight: 700 }}&gt;战队库与看点挖掘&lt;/Text&gt;&#10;  &lt;/Box&gt;&#10;  &lt;Box style={{ flexDirection: 'row', gap: 44, marginTop: 26, height: 520 }}&gt;&#10;    {/* 左 42%：要点 */}&#10;    &lt;Box style={{ width: '42%', justifyContent: 'center', gap: 14 }}&gt;&#10;      &lt;Text style={{ fontSize: 21, color: '#F0E8E8', fontWeight: 700 }}&gt;数据 + 规则双驱动&lt;/Text&gt;&#10;      {[&#10;        { t: '50 队全赛区注册表', d: 'VCT CN/EMEA/Americas/Pacific 总库，运营可手动新建队伍补录' },&#10;        { t: '462 名选手阵容', d: 'VLR 自动抓取各队现役名单，灌入静态文件随每日定时更新' },&#10;        { t: '看点引擎', d: '按 H2H 交锋、转会恩怨、连胜势头自动生成预热看点文案' },&#10;        { t: '号角参考源', d: 'web.haojiao.cc 维基站作人工对照，仅存链接不爬取（登录墙）' },&#10;      ].map((it, i) =&gt; (&#10;        &lt;Box key={i} style={{ background: 'rgba(220,48,48,0.08)', borderRadius: 10, padding: '11px 16px', borderLeft: '3px solid #DC3030' }}&gt;&#10;          &lt;Text style={{ fontSize: 17, color: '#F0E8E8', fontWeight: 600 }}&gt;{it.t}&lt;/Text&gt;&#10;          &lt;Text style={{ fontSize: 14, color: '#B0A0A0', marginTop: 2, lineHeight: 1.4 }}&gt;{it.d}&lt;/Text&gt;&#10;        &lt;/Box&gt;&#10;      ))}&#10;    &lt;/Box&gt;&#10;    {/* 右 58%：数据分层 SVG */}&#10;    &lt;Box style={{ width: '58%', justifyContent: 'center', alignItems: 'center', background: 'rgba(220,48,48,0.06)', borderRadius: 16 }}&gt;&#10;      &lt;svg width={540} height={420} viewBox='0 0 540 420'&gt;&#10;        &lt;text x='30' y='36' fill='#B0A0A0' fontSize='15'&gt;数据分层：静态抓取层 + 手动补充层&lt;/text&gt;&#10;        &lt;rect x='30' y='60' width='480' height='110' rx='10' fill='#1A0D0E' stroke='#DC3030' strokeWidth='1.5' /&gt;&#10;        &lt;text x='50' y='92' fill='#FD2659' fontSize='17' fontWeight='bold'&gt;静态层 · fetched-teams.json&lt;/text&gt;&#10;        &lt;text x='50' y='120' fill='#F0E8E8' fontSize='14'&gt;VLR 抓取 50 队 / 462 选手（大体量，不进 state）&lt;/text&gt;&#10;        &lt;text x='50' y='144' fill='#B0A0A0' fontSize='13'&gt;每日定时更新，运营无需关心&lt;/text&gt;&#10;        &lt;rect x='30' y='200' width='480' height='110' rx='10' fill='#1A0D0E' stroke='#FD2659' strokeWidth='1.5' /&gt;&#10;        &lt;text x='50' y='232' fill='#FD2659' fontSize='17' fontWeight='bold'&gt;手动层 · App.state（Supabase 同步）&lt;/text&gt;&#10;        &lt;text x='50' y='260' fill='#F0E8E8' fontSize='14'&gt;队伍覆盖 / 对阵备注 / 看点 highlight / 新建队伍&lt;/text&gt;&#10;        &lt;text x='50' y='284' fill='#B0A0A0' fontSize='13'&gt;manual:true 的队不被自动同步覆盖&lt;/text&gt;&#10;        &lt;rect x='30' y='340' width='480' height='60' rx='10' fill='#120A0B' stroke='#FD2659' strokeWidth='1' /&gt;&#10;        &lt;text x='50' y='376' fill='#F0E8E8' fontSize='15'&gt;惰性合并：storyData() 静态为基，手动层叠加&lt;/text&gt;&#10;        &lt;line x1='270' y1='170' x2='270' y2='200' stroke='#FD2659' strokeWidth='2' /&gt;&#10;        &lt;line x1='270' y1='310' x2='270' y2='340' stroke='#FD2659' strokeWidth='2' /&gt;&#10;      &lt;/svg&gt;&#10;    &lt;/Box&gt;&#10;  &lt;/Box&gt;&#10;  &lt;Box style={{ position: 'absolute', bottom: 20, left: 64, fontSize: 14, color: '#7B7F7D' }}&gt;瓦电赛事运营中台&lt;/Box&gt;&#10;  &lt;Box style={{ position: 'absolute', bottom: 20, right: 64, fontSize: 14, color: '#7B7F7D' }}&gt;09 / 18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0A0B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609600" y="381000"/>
            <a:ext cx="10972800" cy="762000"/>
          </a:xfrm>
          <a:custGeom>
            <a:pathLst>
              <a:path w="1152" h="80">
                <a:moveTo>
                  <a:pt x="0" y="78"/>
                </a:moveTo>
                <a:lnTo>
                  <a:pt x="1152" y="78"/>
                </a:lnTo>
                <a:lnTo>
                  <a:pt x="1152" y="80"/>
                </a:lnTo>
                <a:lnTo>
                  <a:pt x="0" y="80"/>
                </a:lnTo>
                <a:close/>
              </a:path>
            </a:pathLst>
          </a:custGeom>
          <a:solidFill>
            <a:srgbClr val="DC3030">
              <a:alpha val="30000"/>
            </a:srgbClr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0E8E8"/>
                </a:solidFill>
                <a:latin typeface="Microsoft YaHei"/>
                <a:ea typeface="Microsoft YaHei"/>
              </a:rPr>
              <a:t>战队库与看点挖掘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4429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0E8E8"/>
                </a:solidFill>
                <a:latin typeface="Microsoft YaHei"/>
                <a:ea typeface="Microsoft YaHei"/>
              </a:rPr>
              <a:t>数据</a:t>
            </a:r>
            <a:r>
              <a:rPr lang="en-US" sz="1575" b="1">
                <a:solidFill>
                  <a:srgbClr val="F0E8E8"/>
                </a:solidFill>
                <a:latin typeface="Microsoft YaHei"/>
                <a:ea typeface="Microsoft YaHei"/>
              </a:rPr>
              <a:t> + </a:t>
            </a:r>
            <a:r>
              <a:rPr lang="zh-CN" sz="1575" b="1">
                <a:solidFill>
                  <a:srgbClr val="F0E8E8"/>
                </a:solidFill>
                <a:latin typeface="Microsoft YaHei"/>
                <a:ea typeface="Microsoft YaHei"/>
              </a:rPr>
              <a:t>规则双驱动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38175" y="2543175"/>
            <a:ext cx="4429125" cy="657225"/>
          </a:xfrm>
          <a:prstGeom prst="roundRect">
            <a:avLst>
              <a:gd name="adj" fmla="val 14493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638175" y="2543175"/>
            <a:ext cx="4429125" cy="657225"/>
          </a:xfrm>
          <a:custGeom>
            <a:pathLst>
              <a:path w="465" h="69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62"/>
                </a:lnTo>
                <a:cubicBezTo>
                  <a:pt x="3" y="65"/>
                  <a:pt x="5" y="68"/>
                  <a:pt x="8" y="69"/>
                </a:cubicBezTo>
                <a:cubicBezTo>
                  <a:pt x="3" y="68"/>
                  <a:pt x="0" y="64"/>
                  <a:pt x="0" y="5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C3030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790575" y="2647950"/>
            <a:ext cx="409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0E8E8"/>
                </a:solidFill>
                <a:latin typeface="Microsoft YaHei"/>
                <a:ea typeface="Microsoft YaHei"/>
              </a:rPr>
              <a:t>50 </a:t>
            </a:r>
            <a:r>
              <a:rPr lang="zh-CN" sz="1275" b="1">
                <a:solidFill>
                  <a:srgbClr val="F0E8E8"/>
                </a:solidFill>
                <a:latin typeface="Microsoft YaHei"/>
                <a:ea typeface="Microsoft YaHei"/>
              </a:rPr>
              <a:t>队全赛区注册表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90575" y="2867025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VCT CN/EMEA/Americas/Pacific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总库，运营可手动新建队伍补录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638175" y="3333750"/>
            <a:ext cx="4429125" cy="657225"/>
          </a:xfrm>
          <a:prstGeom prst="roundRect">
            <a:avLst>
              <a:gd name="adj" fmla="val 14493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315" name=""/>
          <p:cNvSpPr/>
          <p:nvPr/>
        </p:nvSpPr>
        <p:spPr>
          <a:xfrm rot="0" flipH="0" flipV="0">
            <a:off x="638175" y="3333750"/>
            <a:ext cx="4429125" cy="657225"/>
          </a:xfrm>
          <a:custGeom>
            <a:pathLst>
              <a:path w="465" h="69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62"/>
                </a:lnTo>
                <a:cubicBezTo>
                  <a:pt x="3" y="65"/>
                  <a:pt x="5" y="68"/>
                  <a:pt x="8" y="69"/>
                </a:cubicBezTo>
                <a:cubicBezTo>
                  <a:pt x="3" y="68"/>
                  <a:pt x="0" y="64"/>
                  <a:pt x="0" y="5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C3030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790575" y="3438525"/>
            <a:ext cx="409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0E8E8"/>
                </a:solidFill>
                <a:latin typeface="Microsoft YaHei"/>
                <a:ea typeface="Microsoft YaHei"/>
              </a:rPr>
              <a:t>462 </a:t>
            </a:r>
            <a:r>
              <a:rPr lang="zh-CN" sz="1275" b="1">
                <a:solidFill>
                  <a:srgbClr val="F0E8E8"/>
                </a:solidFill>
                <a:latin typeface="Microsoft YaHei"/>
                <a:ea typeface="Microsoft YaHei"/>
              </a:rPr>
              <a:t>名选手阵容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90575" y="3657600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VLR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自动抓取各队现役名单，灌入静态文件随每日定时更新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638175" y="4124325"/>
            <a:ext cx="4429125" cy="657225"/>
          </a:xfrm>
          <a:prstGeom prst="roundRect">
            <a:avLst>
              <a:gd name="adj" fmla="val 14493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638175" y="4124325"/>
            <a:ext cx="4429125" cy="657225"/>
          </a:xfrm>
          <a:custGeom>
            <a:pathLst>
              <a:path w="465" h="69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62"/>
                </a:lnTo>
                <a:cubicBezTo>
                  <a:pt x="3" y="65"/>
                  <a:pt x="5" y="68"/>
                  <a:pt x="8" y="69"/>
                </a:cubicBezTo>
                <a:cubicBezTo>
                  <a:pt x="3" y="68"/>
                  <a:pt x="0" y="64"/>
                  <a:pt x="0" y="5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C3030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90575" y="4229100"/>
            <a:ext cx="409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0E8E8"/>
                </a:solidFill>
                <a:latin typeface="Microsoft YaHei"/>
                <a:ea typeface="Microsoft YaHei"/>
              </a:rPr>
              <a:t>看点引擎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90575" y="4448175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按</a:t>
            </a: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 H2H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交锋、转会恩怨、连胜势头自动生成预热看点文案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638175" y="4914900"/>
            <a:ext cx="4429125" cy="657225"/>
          </a:xfrm>
          <a:prstGeom prst="roundRect">
            <a:avLst>
              <a:gd name="adj" fmla="val 14493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638175" y="4914900"/>
            <a:ext cx="4429125" cy="657225"/>
          </a:xfrm>
          <a:custGeom>
            <a:pathLst>
              <a:path w="465" h="69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62"/>
                </a:lnTo>
                <a:cubicBezTo>
                  <a:pt x="3" y="65"/>
                  <a:pt x="5" y="68"/>
                  <a:pt x="8" y="69"/>
                </a:cubicBezTo>
                <a:cubicBezTo>
                  <a:pt x="3" y="68"/>
                  <a:pt x="0" y="64"/>
                  <a:pt x="0" y="5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C3030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790575" y="5019675"/>
            <a:ext cx="409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0E8E8"/>
                </a:solidFill>
                <a:latin typeface="Microsoft YaHei"/>
                <a:ea typeface="Microsoft YaHei"/>
              </a:rPr>
              <a:t>号角参考源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90575" y="5238750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web.haojiao.cc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维基站作人工对照，仅存链接不爬取（登录墙）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5457825" y="1390650"/>
            <a:ext cx="6124575" cy="4953000"/>
          </a:xfrm>
          <a:prstGeom prst="roundRect">
            <a:avLst>
              <a:gd name="adj" fmla="val 3077"/>
            </a:avLst>
          </a:prstGeom>
          <a:solidFill>
            <a:srgbClr val="DC3030">
              <a:alpha val="6000"/>
            </a:srgbClr>
          </a:solidFill>
          <a:ln/>
        </p:spPr>
        <p:txBody>
          <a:bodyPr/>
          <a:p/>
        </p:txBody>
      </p:sp>
      <p:pic>
        <p:nvPicPr>
          <p:cNvPr id="3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53125" y="1866900"/>
            <a:ext cx="5143500" cy="4000500"/>
          </a:xfrm>
          <a:prstGeom prst="rect">
            <a:avLst/>
          </a:prstGeom>
          <a:ln/>
        </p:spPr>
      </p:pic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B7F7D"/>
                </a:solidFill>
                <a:latin typeface="Microsoft YaHei"/>
                <a:ea typeface="Microsoft YaHei"/>
              </a:rPr>
              <a:t>瓦电赛事运营中台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7F7D"/>
                </a:solidFill>
                <a:latin typeface="Microsoft YaHei"/>
                <a:ea typeface="Microsoft YaHei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" name="" descr="&lt;Slide style={{ width: '1280px', height: '720px', background: '#120A0B', padding: '40px 64px' }}&gt;&#10;  &lt;Box style={{ height: 80, justifyContent: 'flex-end', borderBottom: '2px solid rgba(220,48,48,0.3)' }}&gt;&#10;    &lt;Text style={{ fontSize: 34, color: '#F0E8E8', fontWeight: 700 }}&gt;图形工厂&lt;/Text&gt;&#10;  &lt;/Box&gt;&#10;  &lt;Box style={{ flexDirection: 'row', gap: 44, marginTop: 26, height: 520 }}&gt;&#10;    {/* 左 55%：出图示意 */}&#10;    &lt;Box style={{ width: '55%', justifyContent: 'center', alignItems: 'center', background: 'rgba(220,48,48,0.06)', borderRadius: 16 }}&gt;&#10;      &lt;svg width={470} height={380} viewBox='0 0 470 380'&gt;&#10;        {/* 底图 */}&#10;        &lt;rect x='20' y='40' width='200' height='300' rx='10' fill='#1A0D0E' stroke='#DC3030' strokeWidth='1.5' /&gt;&#10;        &lt;text x='120' y='70' fill='#B0A0A0' fontSize='13' textAnchor='middle'&gt;底图（皮肤）&lt;/text&gt;&#10;        &lt;rect x='40' y='200' width='160' height='110' rx='6' fill='#DC3030' opacity='0.25' /&gt;&#10;        &lt;text x='120' y='260' fill='#F0E8E8' fontSize='13' textAnchor='middle'&gt;品牌色装饰&lt;/text&gt;&#10;        {/* 箭头 */}&#10;        &lt;line x1='230' y1='190' x2='280' y2='190' stroke='#FD2659' strokeWidth='3' /&gt;&#10;        &lt;polygon points='280,184 295,190 280,196' fill='#FD2659' /&gt;&#10;        {/* 成品 */}&#10;        &lt;rect x='300' y='40' width='150' height='300' rx='10' fill='#120A0B' stroke='#FD2659' strokeWidth='1.5' /&gt;&#10;        &lt;text x='375' y='70' fill='#FD2659' fontSize='13' textAnchor='middle'&gt;成品图&lt;/text&gt;&#10;        &lt;circle cx='340' cy='120' r='18' fill='#DC3030' /&gt;&#10;        &lt;circle cx='410' cy='120' r='18' fill='#FD2659' /&gt;&#10;        &lt;text x='375' y='180' fill='#F0E8E8' fontSize='14' textAnchor='middle' fontWeight='bold'&gt;EDG vs TE&lt;/text&gt;&#10;        &lt;text x='375' y='204' fill='#B0A0A0' fontSize='12' textAnchor='middle'&gt;今日 18:00&lt;/text&gt;&#10;        &lt;rect x='320' y='230' width='110' height='24' rx='4' fill='#DC3030' opacity='0.4' /&gt;&#10;        &lt;rect x='320' y='264' width='110' height='24' rx='4' fill='#FD2659' opacity='0.4' /&gt;&#10;        &lt;text x='375' y='320' fill='#B0A0A0' fontSize='11' textAnchor='middle'&gt;中英双图 + zip&lt;/text&gt;&#10;      &lt;/svg&gt;&#10;    &lt;/Box&gt;&#10;    {/* 右 45%：要点 */}&#10;    &lt;Box style={{ width: '45%', justifyContent: 'center', gap: 14 }}&gt;&#10;      &lt;Text style={{ fontSize: 21, color: '#F0E8E8', fontWeight: 700, lineHeight: 1.5 }}&gt;底图驱动出图&lt;/Text&gt;&#10;      {[&#10;        { t: '可视化编辑', d: '拖拽槽位对齐 + 表单微调文案/配色，改完即所见即所得导出' },&#10;        { t: '多图种模板', d: '今日预告 / 解说海报 / 首发阵容三套模板一键套用' },&#10;        { t: '双语 + 批量', d: '中英双版本同出，按日期批量生成并打包 zip 下载' },&#10;        { t: '素材后台', d: '管理员统一录入队徽、选手头像、教练与解说图，供全模块调用' },&#10;      ].map((it, i) =&gt; (&#10;        &lt;Box key={i} style={{ flexDirection: 'row', gap: 14, alignItems: 'flex-start' }}&gt;&#10;          &lt;FAIcon name='image' style={{ fill: '#FD2659', width: 24, height: 24, marginTop: 2 }} /&gt;&#10;          &lt;Box&gt;&#10;            &lt;Text style={{ fontSize: 17, color: '#F0E8E8', fontWeight: 600 }}&gt;{it.t}&lt;/Text&gt;&#10;            &lt;Text style={{ fontSize: 14, color: '#B0A0A0', marginTop: 2, lineHeight: 1.4 }}&gt;{it.d}&lt;/Text&gt;&#10;          &lt;/Box&gt;&#10;        &lt;/Box&gt;&#10;      ))}&#10;    &lt;/Box&gt;&#10;  &lt;/Box&gt;&#10;  &lt;Box style={{ position: 'absolute', bottom: 20, left: 64, fontSize: 14, color: '#7B7F7D' }}&gt;瓦电赛事运营中台&lt;/Box&gt;&#10;  &lt;Box style={{ position: 'absolute', bottom: 20, right: 64, fontSize: 14, color: '#7B7F7D' }}&gt;10 / 18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0A0B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609600" y="381000"/>
            <a:ext cx="10972800" cy="762000"/>
          </a:xfrm>
          <a:custGeom>
            <a:pathLst>
              <a:path w="1152" h="80">
                <a:moveTo>
                  <a:pt x="0" y="78"/>
                </a:moveTo>
                <a:lnTo>
                  <a:pt x="1152" y="78"/>
                </a:lnTo>
                <a:lnTo>
                  <a:pt x="1152" y="80"/>
                </a:lnTo>
                <a:lnTo>
                  <a:pt x="0" y="80"/>
                </a:lnTo>
                <a:close/>
              </a:path>
            </a:pathLst>
          </a:custGeom>
          <a:solidFill>
            <a:srgbClr val="DC3030">
              <a:alpha val="30000"/>
            </a:srgbClr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0E8E8"/>
                </a:solidFill>
                <a:latin typeface="Microsoft YaHei"/>
                <a:ea typeface="Microsoft YaHei"/>
              </a:rPr>
              <a:t>图形工厂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09600" y="1390650"/>
            <a:ext cx="5800725" cy="4953000"/>
          </a:xfrm>
          <a:prstGeom prst="roundRect">
            <a:avLst>
              <a:gd name="adj" fmla="val 3077"/>
            </a:avLst>
          </a:prstGeom>
          <a:solidFill>
            <a:srgbClr val="DC3030">
              <a:alpha val="6000"/>
            </a:srgbClr>
          </a:solidFill>
          <a:ln/>
        </p:spPr>
        <p:txBody>
          <a:bodyPr/>
          <a:p/>
        </p:txBody>
      </p:sp>
      <p:pic>
        <p:nvPicPr>
          <p:cNvPr id="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276350" y="2057400"/>
            <a:ext cx="4476750" cy="3619500"/>
          </a:xfrm>
          <a:prstGeom prst="rect">
            <a:avLst/>
          </a:prstGeom>
          <a:ln/>
        </p:spPr>
      </p:pic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829425" y="2524125"/>
            <a:ext cx="4752975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F0E8E8"/>
                </a:solidFill>
                <a:latin typeface="Microsoft YaHei"/>
                <a:ea typeface="Microsoft YaHei"/>
              </a:rPr>
              <a:t>底图驱动出图</a:t>
            </a:r>
            <a:endParaRPr/>
          </a:p>
        </p:txBody>
      </p:sp>
      <p:pic>
        <p:nvPicPr>
          <p:cNvPr id="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29425" y="3038475"/>
            <a:ext cx="228600" cy="228600"/>
          </a:xfrm>
          <a:prstGeom prst="rect">
            <a:avLst/>
          </a:prstGeom>
          <a:ln/>
        </p:spPr>
      </p:pic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191375" y="3019425"/>
            <a:ext cx="3571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0E8E8"/>
                </a:solidFill>
                <a:latin typeface="Microsoft YaHei"/>
                <a:ea typeface="Microsoft YaHei"/>
              </a:rPr>
              <a:t>可视化编辑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191375" y="3238500"/>
            <a:ext cx="35718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拖拽槽位对齐</a:t>
            </a: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表单微调文案</a:t>
            </a: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配色，改完即所见即所得导出</a:t>
            </a:r>
            <a:endParaRPr/>
          </a:p>
        </p:txBody>
      </p:sp>
      <p:pic>
        <p:nvPicPr>
          <p:cNvPr id="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29425" y="3619500"/>
            <a:ext cx="228600" cy="228600"/>
          </a:xfrm>
          <a:prstGeom prst="rect">
            <a:avLst/>
          </a:prstGeom>
          <a:ln/>
        </p:spPr>
      </p:pic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191375" y="3600450"/>
            <a:ext cx="2943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0E8E8"/>
                </a:solidFill>
                <a:latin typeface="Microsoft YaHei"/>
                <a:ea typeface="Microsoft YaHei"/>
              </a:rPr>
              <a:t>多图种模板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191375" y="3819525"/>
            <a:ext cx="29432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今日预告</a:t>
            </a: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解说海报</a:t>
            </a: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首发阵容三套模板一键套用</a:t>
            </a:r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29425" y="4200525"/>
            <a:ext cx="228600" cy="228600"/>
          </a:xfrm>
          <a:prstGeom prst="rect">
            <a:avLst/>
          </a:prstGeom>
          <a:ln/>
        </p:spPr>
      </p:pic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191375" y="4181475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0E8E8"/>
                </a:solidFill>
                <a:latin typeface="Microsoft YaHei"/>
                <a:ea typeface="Microsoft YaHei"/>
              </a:rPr>
              <a:t>双语</a:t>
            </a:r>
            <a:r>
              <a:rPr lang="en-US" sz="1275" b="1">
                <a:solidFill>
                  <a:srgbClr val="F0E8E8"/>
                </a:solidFill>
                <a:latin typeface="Microsoft YaHei"/>
                <a:ea typeface="Microsoft YaHei"/>
              </a:rPr>
              <a:t> + </a:t>
            </a:r>
            <a:r>
              <a:rPr lang="zh-CN" sz="1275" b="1">
                <a:solidFill>
                  <a:srgbClr val="F0E8E8"/>
                </a:solidFill>
                <a:latin typeface="Microsoft YaHei"/>
                <a:ea typeface="Microsoft YaHei"/>
              </a:rPr>
              <a:t>批量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191375" y="4400550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中英双版本同出，按日期批量生成并打包</a:t>
            </a: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 zip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下载</a:t>
            </a:r>
            <a:endParaRPr/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29425" y="4781550"/>
            <a:ext cx="228600" cy="228600"/>
          </a:xfrm>
          <a:prstGeom prst="rect">
            <a:avLst/>
          </a:prstGeom>
          <a:ln/>
        </p:spPr>
      </p:pic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191375" y="4762500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0E8E8"/>
                </a:solidFill>
                <a:latin typeface="Microsoft YaHei"/>
                <a:ea typeface="Microsoft YaHei"/>
              </a:rPr>
              <a:t>素材后台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191375" y="4981575"/>
            <a:ext cx="37338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管理员统一录入队徽、选手头像、教练与解说图，供全模块调用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B7F7D"/>
                </a:solidFill>
                <a:latin typeface="Microsoft YaHei"/>
                <a:ea typeface="Microsoft YaHei"/>
              </a:rPr>
              <a:t>瓦电赛事运营中台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7F7D"/>
                </a:solidFill>
                <a:latin typeface="Microsoft YaHei"/>
                <a:ea typeface="Microsoft YaHei"/>
              </a:rPr>
              <a:t>10 / 18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3" name="" descr="&lt;Slide style={{ width: '1280px', height: '720px', background: '#120A0B', padding: '40px 64px' }}&gt;&#10;  &lt;Box style={{ height: 80, justifyContent: 'flex-end', borderBottom: '2px solid rgba(220,48,48,0.3)' }}&gt;&#10;    &lt;Text style={{ fontSize: 34, color: '#F0E8E8', fontWeight: 700 }}&gt;赛况战报&lt;/Text&gt;&#10;  &lt;/Box&gt;&#10;  &lt;Box style={{ flexDirection: 'row', gap: 44, marginTop: 26, height: 520 }}&gt;&#10;    {/* 左 42%：要点 */}&#10;    &lt;Box style={{ width: '42%', justifyContent: 'center', gap: 14 }}&gt;&#10;      &lt;Text style={{ fontSize: 21, color: '#F0E8E8', fontWeight: 700 }}&gt;拉数据，出文案&lt;/Text&gt;&#10;      {[&#10;        { t: '三联赛覆盖', d: 'EMEA / Americas / Pacific 海外赛区事件页抓取，专注非 CN 战场' },&#10;        { t: '固定模板', d: '赛果 / 声明 / 分组名单 / 进度段 / 后续预告 五锚点结构化' },&#10;        { t: '北京时间', d: 'PDT 等赛区时间自动换算 +8，自动处理跨日场次' },&#10;        { t: '一键复制', d: '生成 Markdown 直发社媒，不落库、不改源数据，安全可逆' },&#10;      ].map((it, i) =&gt; (&#10;        &lt;Box key={i} style={{ background: 'rgba(220,48,48,0.08)', borderRadius: 10, padding: '11px 16px', borderLeft: '3px solid #FD2659' }}&gt;&#10;          &lt;Text style={{ fontSize: 17, color: '#F0E8E8', fontWeight: 600 }}&gt;{it.t}&lt;/Text&gt;&#10;          &lt;Text style={{ fontSize: 14, color: '#B0A0A0', marginTop: 2, lineHeight: 1.4 }}&gt;{it.d}&lt;/Text&gt;&#10;        &lt;/Box&gt;&#10;      ))}&#10;    &lt;/Box&gt;&#10;    {/* 右 58%：流程 SVG */}&#10;    &lt;Box style={{ width: '58%', justifyContent: 'center', alignItems: 'center', background: 'rgba(220,48,48,0.06)', borderRadius: 16 }}&gt;&#10;      &lt;svg width={540} height={400} viewBox='0 0 540 400'&gt;&#10;        {[['VLR 事件页','抓取赛果',90],['队名归一化','简称映射',230],['固定模板渲染','5锚点',370],['Markdown 复制','社媒直发',510]].map((s,i)=&gt;(&#10;          &lt;g key={i}&gt;&#10;            &lt;rect x='40' y={s[2]-30} width='150' height='60' rx='10' fill='#1A0D0E' stroke='#DC3030' strokeWidth='1.5' /&gt;&#10;            &lt;text x='115' y={s[2]-4} fill='#F0E8E8' fontSize='14' fontWeight='bold' textAnchor='middle'&gt;{s[0]}&lt;/text&gt;&#10;            &lt;text x='115' y={s[2]+16} fill='#B0A0A0' fontSize='12' textAnchor='middle'&gt;{s[1]}&lt;/text&gt;&#10;            {i&lt;3 &amp;&amp; &lt;g&gt;&lt;line x1='190' y1={s[2]} x2='220' y2={s[2]} stroke='#FD2659' strokeWidth='3' /&gt;&lt;polygon points='220,{s[2]-6} 232,{s[2]} 220,{s[2]+6}' fill='#FD2659' /&gt;&lt;/g&gt;}&#10;          &lt;/g&gt;&#10;        ))}&#10;        &lt;text x='270' y='40' fill='#B0A0A0' fontSize='14'&gt;战报生成流水线&lt;/text&gt;&#10;      &lt;/svg&gt;&#10;    &lt;/Box&gt;&#10;  &lt;/Box&gt;&#10;  &lt;Box style={{ position: 'absolute', bottom: 20, left: 64, fontSize: 14, color: '#7B7F7D' }}&gt;瓦电赛事运营中台&lt;/Box&gt;&#10;  &lt;Box style={{ position: 'absolute', bottom: 20, right: 64, fontSize: 14, color: '#7B7F7D' }}&gt;11 / 18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0A0B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609600" y="381000"/>
            <a:ext cx="10972800" cy="762000"/>
          </a:xfrm>
          <a:custGeom>
            <a:pathLst>
              <a:path w="1152" h="80">
                <a:moveTo>
                  <a:pt x="0" y="78"/>
                </a:moveTo>
                <a:lnTo>
                  <a:pt x="1152" y="78"/>
                </a:lnTo>
                <a:lnTo>
                  <a:pt x="1152" y="80"/>
                </a:lnTo>
                <a:lnTo>
                  <a:pt x="0" y="80"/>
                </a:lnTo>
                <a:close/>
              </a:path>
            </a:pathLst>
          </a:custGeom>
          <a:solidFill>
            <a:srgbClr val="DC3030">
              <a:alpha val="30000"/>
            </a:srgbClr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0E8E8"/>
                </a:solidFill>
                <a:latin typeface="Microsoft YaHei"/>
                <a:ea typeface="Microsoft YaHei"/>
              </a:rPr>
              <a:t>赛况战报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4429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0E8E8"/>
                </a:solidFill>
                <a:latin typeface="Microsoft YaHei"/>
                <a:ea typeface="Microsoft YaHei"/>
              </a:rPr>
              <a:t>拉数据，出文案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38175" y="2543175"/>
            <a:ext cx="4429125" cy="657225"/>
          </a:xfrm>
          <a:prstGeom prst="roundRect">
            <a:avLst>
              <a:gd name="adj" fmla="val 14493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638175" y="2543175"/>
            <a:ext cx="4429125" cy="657225"/>
          </a:xfrm>
          <a:custGeom>
            <a:pathLst>
              <a:path w="465" h="69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62"/>
                </a:lnTo>
                <a:cubicBezTo>
                  <a:pt x="3" y="65"/>
                  <a:pt x="5" y="68"/>
                  <a:pt x="8" y="69"/>
                </a:cubicBezTo>
                <a:cubicBezTo>
                  <a:pt x="3" y="68"/>
                  <a:pt x="0" y="64"/>
                  <a:pt x="0" y="5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D2659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90575" y="2647950"/>
            <a:ext cx="409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0E8E8"/>
                </a:solidFill>
                <a:latin typeface="Microsoft YaHei"/>
                <a:ea typeface="Microsoft YaHei"/>
              </a:rPr>
              <a:t>三联赛覆盖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90575" y="2867025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EMEA / Americas / Pacific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海外赛区事件页抓取，专注非</a:t>
            </a: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 CN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战场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38175" y="3333750"/>
            <a:ext cx="4429125" cy="657225"/>
          </a:xfrm>
          <a:prstGeom prst="roundRect">
            <a:avLst>
              <a:gd name="adj" fmla="val 14493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638175" y="3333750"/>
            <a:ext cx="4429125" cy="657225"/>
          </a:xfrm>
          <a:custGeom>
            <a:pathLst>
              <a:path w="465" h="69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62"/>
                </a:lnTo>
                <a:cubicBezTo>
                  <a:pt x="3" y="65"/>
                  <a:pt x="5" y="68"/>
                  <a:pt x="8" y="69"/>
                </a:cubicBezTo>
                <a:cubicBezTo>
                  <a:pt x="3" y="68"/>
                  <a:pt x="0" y="64"/>
                  <a:pt x="0" y="5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D2659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90575" y="3438525"/>
            <a:ext cx="409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0E8E8"/>
                </a:solidFill>
                <a:latin typeface="Microsoft YaHei"/>
                <a:ea typeface="Microsoft YaHei"/>
              </a:rPr>
              <a:t>固定模板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90575" y="3657600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赛果</a:t>
            </a: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声明</a:t>
            </a: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分组名单</a:t>
            </a: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进度段</a:t>
            </a: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后续预告</a:t>
            </a: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五锚点结构化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38175" y="4124325"/>
            <a:ext cx="4429125" cy="657225"/>
          </a:xfrm>
          <a:prstGeom prst="roundRect">
            <a:avLst>
              <a:gd name="adj" fmla="val 14493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638175" y="4124325"/>
            <a:ext cx="4429125" cy="657225"/>
          </a:xfrm>
          <a:custGeom>
            <a:pathLst>
              <a:path w="465" h="69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62"/>
                </a:lnTo>
                <a:cubicBezTo>
                  <a:pt x="3" y="65"/>
                  <a:pt x="5" y="68"/>
                  <a:pt x="8" y="69"/>
                </a:cubicBezTo>
                <a:cubicBezTo>
                  <a:pt x="3" y="68"/>
                  <a:pt x="0" y="64"/>
                  <a:pt x="0" y="5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D2659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90575" y="4229100"/>
            <a:ext cx="409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0E8E8"/>
                </a:solidFill>
                <a:latin typeface="Microsoft YaHei"/>
                <a:ea typeface="Microsoft YaHei"/>
              </a:rPr>
              <a:t>北京时间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90575" y="4448175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PDT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等赛区时间自动换算</a:t>
            </a: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 +8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，自动处理跨日场次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38175" y="4914900"/>
            <a:ext cx="4429125" cy="657225"/>
          </a:xfrm>
          <a:prstGeom prst="roundRect">
            <a:avLst>
              <a:gd name="adj" fmla="val 14493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38175" y="4914900"/>
            <a:ext cx="4429125" cy="657225"/>
          </a:xfrm>
          <a:custGeom>
            <a:pathLst>
              <a:path w="465" h="69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62"/>
                </a:lnTo>
                <a:cubicBezTo>
                  <a:pt x="3" y="65"/>
                  <a:pt x="5" y="68"/>
                  <a:pt x="8" y="69"/>
                </a:cubicBezTo>
                <a:cubicBezTo>
                  <a:pt x="3" y="68"/>
                  <a:pt x="0" y="64"/>
                  <a:pt x="0" y="5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D2659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90575" y="5019675"/>
            <a:ext cx="409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0E8E8"/>
                </a:solidFill>
                <a:latin typeface="Microsoft YaHei"/>
                <a:ea typeface="Microsoft YaHei"/>
              </a:rPr>
              <a:t>一键复制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90575" y="5238750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生成</a:t>
            </a:r>
            <a:r>
              <a:rPr lang="en-US" sz="1050">
                <a:solidFill>
                  <a:srgbClr val="B0A0A0"/>
                </a:solidFill>
                <a:latin typeface="Microsoft YaHei"/>
                <a:ea typeface="Microsoft YaHei"/>
              </a:rPr>
              <a:t> Markdown </a:t>
            </a:r>
            <a:r>
              <a:rPr lang="zh-CN" sz="1050">
                <a:solidFill>
                  <a:srgbClr val="B0A0A0"/>
                </a:solidFill>
                <a:latin typeface="Microsoft YaHei"/>
                <a:ea typeface="Microsoft YaHei"/>
              </a:rPr>
              <a:t>直发社媒，不落库、不改源数据，安全可逆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5457825" y="1390650"/>
            <a:ext cx="6124575" cy="4953000"/>
          </a:xfrm>
          <a:prstGeom prst="roundRect">
            <a:avLst>
              <a:gd name="adj" fmla="val 3077"/>
            </a:avLst>
          </a:prstGeom>
          <a:solidFill>
            <a:srgbClr val="DC3030">
              <a:alpha val="6000"/>
            </a:srgbClr>
          </a:solidFill>
          <a:ln/>
        </p:spPr>
        <p:txBody>
          <a:bodyPr/>
          <a:p/>
        </p:txBody>
      </p:sp>
      <p:pic>
        <p:nvPicPr>
          <p:cNvPr id="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53125" y="1962150"/>
            <a:ext cx="5143500" cy="3810000"/>
          </a:xfrm>
          <a:prstGeom prst="rect">
            <a:avLst/>
          </a:prstGeom>
          <a:ln/>
        </p:spPr>
      </p:pic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B7F7D"/>
                </a:solidFill>
                <a:latin typeface="Microsoft YaHei"/>
                <a:ea typeface="Microsoft YaHei"/>
              </a:rPr>
              <a:t>瓦电赛事运营中台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7F7D"/>
                </a:solidFill>
                <a:latin typeface="Microsoft YaHei"/>
                <a:ea typeface="Microsoft YaHei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58" name="" descr="&lt;Slide style={{ width: '1280px', height: '720px', background: 'linear-gradient(135deg, #120A0B 0%, #241215 100%)', padding: 0, position: 'relative' }}&gt;&#10;  &lt;Box style={{ position: 'absolute', top: 0, right: 0, width: 460, height: 460, background: 'linear-gradient(135deg, rgba(253,38,89,0.16) 0%, transparent 70%)' }} /&gt;&#10;  &lt;Box style={{ position: 'absolute', left: 90, top: 250 }}&gt;&#10;    &lt;Text style={{ fontSize: 200, color: 'rgba(253,38,89,0.16)', fontWeight: 800, lineHeight: 1 }}&gt;03&lt;/Text&gt;&#10;  &lt;/Box&gt;&#10;  &lt;Box style={{ position: 'absolute', left: 130, top: 320, zIndex: 2 }}&gt;&#10;    &lt;Text style={{ fontSize: 22, color: '#FD2659', fontWeight: 'bold', letterSpacing: 4 }}&gt;CHAPTER 03&lt;/Text&gt;&#10;    &lt;Text style={{ fontSize: 56, color: '#F0E8E8', fontWeight: 800, marginTop: 14 }}&gt;开发经验教训&lt;/Text&gt;&#10;    &lt;Box style={{ width: 90, height: 5, background: '#DC3030', marginTop: 22, borderRadius: 3 }} /&gt;&#10;    &lt;Text style={{ fontSize: 20, color: '#B0A0A0', marginTop: 22 }}&gt;踩过的坑，与留下的工程纪律。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0A0B"/>
              </a:gs>
              <a:gs pos="100000">
                <a:srgbClr val="241215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7810500" y="0"/>
            <a:ext cx="4381500" cy="4381500"/>
          </a:xfrm>
          <a:prstGeom prst="rect">
            <a:avLst/>
          </a:prstGeom>
          <a:gradFill>
            <a:gsLst>
              <a:gs pos="0">
                <a:srgbClr val="FD2659">
                  <a:alpha val="16000"/>
                </a:srgbClr>
              </a:gs>
              <a:gs pos="7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57250" y="238125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FD2659">
                    <a:alpha val="16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238250" y="3048000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300">
                <a:solidFill>
                  <a:srgbClr val="FD2659"/>
                </a:solidFill>
                <a:latin typeface="Microsoft YaHei"/>
                <a:ea typeface="Microsoft YaHei"/>
              </a:rPr>
              <a:t>CHAPTER 03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238250" y="3438525"/>
            <a:ext cx="32004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0E8E8"/>
                </a:solidFill>
                <a:latin typeface="Microsoft YaHei"/>
                <a:ea typeface="Microsoft YaHei"/>
              </a:rPr>
              <a:t>开发经验教训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1238250" y="4295775"/>
            <a:ext cx="857250" cy="47625"/>
          </a:xfrm>
          <a:prstGeom prst="roundRect">
            <a:avLst>
              <a:gd name="adj" fmla="val 60000"/>
            </a:avLst>
          </a:prstGeom>
          <a:solidFill>
            <a:srgbClr val="DC3030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238250" y="4552950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B0A0A0"/>
                </a:solidFill>
                <a:latin typeface="Microsoft YaHei"/>
                <a:ea typeface="Microsoft YaHei"/>
              </a:rPr>
              <a:t>踩过的坑，与留下的工程纪律。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66" name="" descr="&lt;Slide style={{ width: '1280px', height: '720px', background: '#120A0B', padding: '40px 64px' }}&gt;&#10;  &lt;Box style={{ height: 80, justifyContent: 'flex-end', borderBottom: '2px solid rgba(253,38,89,0.4)' }}&gt;&#10;    &lt;Text style={{ fontSize: 34, color: '#F0E8E8', fontWeight: 700 }}&gt;三大开发教训&lt;/Text&gt;&#10;  &lt;/Box&gt;&#10;  &lt;Box style={{ flexDirection: 'row', gap: 40, marginTop: 28, height: 520 }}&gt;&#10;    {/* 左 30%：标题 */}&#10;    &lt;Box style={{ width: '30%', justifyContent: 'center' }}&gt;&#10;      &lt;Text style={{ fontSize: 22, color: '#FD2659', fontWeight: 'bold', letterSpacing: 2 }}&gt;LESSONS&lt;/Text&gt;&#10;      &lt;Text style={{ fontSize: 40, color: '#F0E8E8', fontWeight: 800, marginTop: 12, lineHeight: 1.2 }}&gt;踩坑&lt;br /&gt;才长记性&lt;/Text&gt;&#10;      &lt;Box style={{ width: 70, height: 4, background: '#DC3030', marginTop: 20, borderRadius: 2 }} /&gt;&#10;      &lt;Text style={{ fontSize: 16, color: '#B0A0A0', marginTop: 20, lineHeight: 1.6 }}&gt;这些纪律已写进代码与项目记忆，避免重蹈。&lt;/Text&gt;&#10;    &lt;/Box&gt;&#10;    {/* 右 70%：三要点卡（竖排非对称） */}&#10;    &lt;Box style={{ width: '70%', justifyContent: 'space-between' }}&gt;&#10;      {[&#10;        { n: '01', t: '白屏防御', d: 'renderView() 必须 try/catch 兜底——任一视图同步抛错会清空整页控件。改为 toast 报错，而非静默白屏。', c: '#DC3030' },&#10;        { n: '02', t: '数据源会失效', d: 'VLR 改版导致旧 class 解析 roster 永远返回 0 人。抓取器要随上游结构演进重写，不能一劳永逸。', c: '#FD2659' },&#10;        { n: '03', t: '诚实修正', d: '原定「抓 standings 自动算分组」因 VLR JS 渲染不可爬而走不通——MVP 改为手动录入，不埋坑、不硬编。', c: '#49FFD3' },&#10;      ].map((it, i) =&gt; (&#10;        &lt;Box key={i} style={{ flexDirection: 'row', gap: 20, background: 'rgba(220,48,48,0.07)', borderRadius: 12, padding: '20px 24px', borderLeft: `4px solid ${it.c}`, alignItems: 'flex-start' }}&gt;&#10;          &lt;Text style={{ fontSize: 44, color: it.c, fontWeight: 800, width: 70 }}&gt;{it.n}&lt;/Text&gt;&#10;          &lt;Box&gt;&#10;            &lt;Text style={{ fontSize: 22, color: '#F0E8E8', fontWeight: 700 }}&gt;{it.t}&lt;/Text&gt;&#10;            &lt;Text style={{ fontSize: 17, color: '#B0A0A0', marginTop: 6, lineHeight: 1.5 }}&gt;{it.d}&lt;/Text&gt;&#10;          &lt;/Box&gt;&#10;        &lt;/Box&gt;&#10;      ))}&#10;    &lt;/Box&gt;&#10;  &lt;/Box&gt;&#10;  &lt;Box style={{ position: 'absolute', bottom: 20, left: 64, fontSize: 14, color: '#7B7F7D' }}&gt;瓦电赛事运营中台&lt;/Box&gt;&#10;  &lt;Box style={{ position: 'absolute', bottom: 20, right: 64, fontSize: 14, color: '#7B7F7D' }}&gt;13 / 18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0A0B"/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609600" y="381000"/>
            <a:ext cx="10972800" cy="762000"/>
          </a:xfrm>
          <a:custGeom>
            <a:pathLst>
              <a:path w="1152" h="80">
                <a:moveTo>
                  <a:pt x="0" y="78"/>
                </a:moveTo>
                <a:lnTo>
                  <a:pt x="1152" y="78"/>
                </a:lnTo>
                <a:lnTo>
                  <a:pt x="1152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D2659">
              <a:alpha val="40000"/>
            </a:srgbClr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0E8E8"/>
                </a:solidFill>
                <a:latin typeface="Microsoft YaHei"/>
                <a:ea typeface="Microsoft YaHei"/>
              </a:rPr>
              <a:t>三大开发教训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2790825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150">
                <a:solidFill>
                  <a:srgbClr val="FD2659"/>
                </a:solidFill>
                <a:latin typeface="Microsoft YaHei"/>
                <a:ea typeface="Microsoft YaHei"/>
              </a:rPr>
              <a:t>LESSONS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3162300"/>
            <a:ext cx="3181350" cy="11049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F0E8E8"/>
                </a:solidFill>
                <a:latin typeface="Microsoft YaHei"/>
                <a:ea typeface="Microsoft YaHei"/>
              </a:rPr>
              <a:t>踩坑</a:t>
            </a:r>
            <a:endParaRPr/>
          </a:p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F0E8E8"/>
                </a:solidFill>
                <a:latin typeface="Microsoft YaHei"/>
                <a:ea typeface="Microsoft YaHei"/>
              </a:rPr>
              <a:t>才长记性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4457700"/>
            <a:ext cx="666750" cy="38100"/>
          </a:xfrm>
          <a:prstGeom prst="roundRect">
            <a:avLst>
              <a:gd name="adj" fmla="val 50000"/>
            </a:avLst>
          </a:prstGeom>
          <a:solidFill>
            <a:srgbClr val="DC3030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9600" y="4686300"/>
            <a:ext cx="31813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B0A0A0"/>
                </a:solidFill>
                <a:latin typeface="Microsoft YaHei"/>
                <a:ea typeface="Microsoft YaHei"/>
              </a:rPr>
              <a:t>这些纪律已写进代码与项目记忆，避免重蹈。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4210050" y="1409700"/>
            <a:ext cx="7410450" cy="1285875"/>
          </a:xfrm>
          <a:prstGeom prst="roundRect">
            <a:avLst>
              <a:gd name="adj" fmla="val 8889"/>
            </a:avLst>
          </a:prstGeom>
          <a:solidFill>
            <a:srgbClr val="DC3030">
              <a:alpha val="7000"/>
            </a:srgbClr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4210050" y="1409700"/>
            <a:ext cx="7410450" cy="1285875"/>
          </a:xfrm>
          <a:custGeom>
            <a:pathLst>
              <a:path w="778" h="13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27"/>
                </a:lnTo>
                <a:cubicBezTo>
                  <a:pt x="4" y="131"/>
                  <a:pt x="7" y="134"/>
                  <a:pt x="10" y="135"/>
                </a:cubicBezTo>
                <a:cubicBezTo>
                  <a:pt x="4" y="134"/>
                  <a:pt x="0" y="129"/>
                  <a:pt x="0" y="12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C3030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438650" y="1600200"/>
            <a:ext cx="5905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DC3030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219700" y="160020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0E8E8"/>
                </a:solidFill>
                <a:latin typeface="Microsoft YaHei"/>
                <a:ea typeface="Microsoft YaHei"/>
              </a:rPr>
              <a:t>白屏防御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219700" y="1914525"/>
            <a:ext cx="6134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B0A0A0"/>
                </a:solidFill>
                <a:latin typeface="Microsoft YaHei"/>
                <a:ea typeface="Microsoft YaHei"/>
              </a:rPr>
              <a:t>renderView() </a:t>
            </a: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必须</a:t>
            </a:r>
            <a:r>
              <a:rPr lang="en-US" sz="1275">
                <a:solidFill>
                  <a:srgbClr val="B0A0A0"/>
                </a:solidFill>
                <a:latin typeface="Microsoft YaHei"/>
                <a:ea typeface="Microsoft YaHei"/>
              </a:rPr>
              <a:t> try/catch </a:t>
            </a: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兜底——任一视图同步抛错会清空整页控件。改为</a:t>
            </a:r>
            <a:r>
              <a:rPr lang="en-US" sz="1275">
                <a:solidFill>
                  <a:srgbClr val="B0A0A0"/>
                </a:solidFill>
                <a:latin typeface="Microsoft YaHei"/>
                <a:ea typeface="Microsoft YaHei"/>
              </a:rPr>
              <a:t> toast </a:t>
            </a: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报错，而非静默白屏。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4210050" y="3248025"/>
            <a:ext cx="7410450" cy="1285875"/>
          </a:xfrm>
          <a:prstGeom prst="roundRect">
            <a:avLst>
              <a:gd name="adj" fmla="val 8889"/>
            </a:avLst>
          </a:prstGeom>
          <a:solidFill>
            <a:srgbClr val="DC3030">
              <a:alpha val="7000"/>
            </a:srgbClr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4210050" y="3248025"/>
            <a:ext cx="7410450" cy="1285875"/>
          </a:xfrm>
          <a:custGeom>
            <a:pathLst>
              <a:path w="778" h="13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27"/>
                </a:lnTo>
                <a:cubicBezTo>
                  <a:pt x="4" y="131"/>
                  <a:pt x="7" y="134"/>
                  <a:pt x="10" y="135"/>
                </a:cubicBezTo>
                <a:cubicBezTo>
                  <a:pt x="4" y="134"/>
                  <a:pt x="0" y="129"/>
                  <a:pt x="0" y="12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D2659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438650" y="3438525"/>
            <a:ext cx="5905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D265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219700" y="3438525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0E8E8"/>
                </a:solidFill>
                <a:latin typeface="Microsoft YaHei"/>
                <a:ea typeface="Microsoft YaHei"/>
              </a:rPr>
              <a:t>数据源会失效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219700" y="3752850"/>
            <a:ext cx="6134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B0A0A0"/>
                </a:solidFill>
                <a:latin typeface="Microsoft YaHei"/>
                <a:ea typeface="Microsoft YaHei"/>
              </a:rPr>
              <a:t>VLR </a:t>
            </a: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改版导致旧</a:t>
            </a:r>
            <a:r>
              <a:rPr lang="en-US" sz="1275">
                <a:solidFill>
                  <a:srgbClr val="B0A0A0"/>
                </a:solidFill>
                <a:latin typeface="Microsoft YaHei"/>
                <a:ea typeface="Microsoft YaHei"/>
              </a:rPr>
              <a:t> class </a:t>
            </a: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解析</a:t>
            </a:r>
            <a:r>
              <a:rPr lang="en-US" sz="1275">
                <a:solidFill>
                  <a:srgbClr val="B0A0A0"/>
                </a:solidFill>
                <a:latin typeface="Microsoft YaHei"/>
                <a:ea typeface="Microsoft YaHei"/>
              </a:rPr>
              <a:t> roster </a:t>
            </a: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永远返回</a:t>
            </a:r>
            <a:r>
              <a:rPr lang="en-US" sz="1275">
                <a:solidFill>
                  <a:srgbClr val="B0A0A0"/>
                </a:solidFill>
                <a:latin typeface="Microsoft YaHei"/>
                <a:ea typeface="Microsoft YaHei"/>
              </a:rPr>
              <a:t> 0 </a:t>
            </a: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人。抓取器要随上游结构演进重写，不能一劳永逸。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210050" y="5076825"/>
            <a:ext cx="7410450" cy="1285875"/>
          </a:xfrm>
          <a:prstGeom prst="roundRect">
            <a:avLst>
              <a:gd name="adj" fmla="val 8889"/>
            </a:avLst>
          </a:prstGeom>
          <a:solidFill>
            <a:srgbClr val="DC3030">
              <a:alpha val="7000"/>
            </a:srgbClr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4210050" y="5076825"/>
            <a:ext cx="7410450" cy="1285875"/>
          </a:xfrm>
          <a:custGeom>
            <a:pathLst>
              <a:path w="778" h="13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27"/>
                </a:lnTo>
                <a:cubicBezTo>
                  <a:pt x="4" y="131"/>
                  <a:pt x="7" y="134"/>
                  <a:pt x="10" y="135"/>
                </a:cubicBezTo>
                <a:cubicBezTo>
                  <a:pt x="4" y="134"/>
                  <a:pt x="0" y="129"/>
                  <a:pt x="0" y="12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49FFD3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438650" y="5267325"/>
            <a:ext cx="5905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49FFD3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219700" y="5267325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0E8E8"/>
                </a:solidFill>
                <a:latin typeface="Microsoft YaHei"/>
                <a:ea typeface="Microsoft YaHei"/>
              </a:rPr>
              <a:t>诚实修正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219700" y="5581650"/>
            <a:ext cx="6134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原定「抓</a:t>
            </a:r>
            <a:r>
              <a:rPr lang="en-US" sz="1275">
                <a:solidFill>
                  <a:srgbClr val="B0A0A0"/>
                </a:solidFill>
                <a:latin typeface="Microsoft YaHei"/>
                <a:ea typeface="Microsoft YaHei"/>
              </a:rPr>
              <a:t> standings </a:t>
            </a: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自动算分组」因</a:t>
            </a:r>
            <a:r>
              <a:rPr lang="en-US" sz="1275">
                <a:solidFill>
                  <a:srgbClr val="B0A0A0"/>
                </a:solidFill>
                <a:latin typeface="Microsoft YaHei"/>
                <a:ea typeface="Microsoft YaHei"/>
              </a:rPr>
              <a:t> VLR JS </a:t>
            </a: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渲染不可爬而走不通——</a:t>
            </a:r>
            <a:r>
              <a:rPr lang="en-US" sz="1275">
                <a:solidFill>
                  <a:srgbClr val="B0A0A0"/>
                </a:solidFill>
                <a:latin typeface="Microsoft YaHei"/>
                <a:ea typeface="Microsoft YaHei"/>
              </a:rPr>
              <a:t>MVP </a:t>
            </a: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改为手动录入，不埋坑、不硬编。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B7F7D"/>
                </a:solidFill>
                <a:latin typeface="Microsoft YaHei"/>
                <a:ea typeface="Microsoft YaHei"/>
              </a:rPr>
              <a:t>瓦电赛事运营中台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7F7D"/>
                </a:solidFill>
                <a:latin typeface="Microsoft YaHei"/>
                <a:ea typeface="Microsoft YaHei"/>
              </a:rPr>
              <a:t>13 / 18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91" name="" descr="&lt;Slide style={{ width: '1280px', height: '720px', background: 'linear-gradient(135deg, #120A0B 0%, #241215 100%)', padding: '40px 64px' }}&gt;&#10;  &lt;Box style={{ height: 80, justifyContent: 'flex-end', borderBottom: '2px solid rgba(253,38,89,0.4)' }}&gt;&#10;    &lt;Text style={{ fontSize: 34, color: '#F0E8E8', fontWeight: 700 }}&gt;数据分层与诚实修正&lt;/Text&gt;&#10;  &lt;/Box&gt;&#10;  &lt;Box style={{ flexDirection: 'row', gap: 50, marginTop: 24, height: 520, alignItems: 'center' }}&gt;&#10;    {/* 左：巨型数字锚点 */}&#10;    &lt;Box style={{ width: '40%', alignItems: 'center' }}&gt;&#10;      &lt;Text style={{ fontSize: 150, color: '#FD2659', fontWeight: 800, lineHeight: 1 }}&gt;462&lt;/Text&gt;&#10;      &lt;Text style={{ fontSize: 24, color: '#F0E8E8', fontWeight: 600, marginTop: 6 }}&gt;名选手已入库&lt;/Text&gt;&#10;      &lt;Text style={{ fontSize: 17, color: '#B0A0A0', marginTop: 8 }}&gt;来自 50 支战队 · VLR 抓取&lt;/Text&gt;&#10;    &lt;/Box&gt;&#10;    {/* 右：洞察 */}&#10;    &lt;Box style={{ width: '60%', gap: 22 }}&gt;&#10;      &lt;Text style={{ fontSize: 22, color: '#F0E8E8', fontWeight: 700, lineHeight: 1.5 }}&gt;分层是稳健的关键&lt;/Text&gt;&#10;      &lt;Text style={{ fontSize: 19, color: '#B0A0A0', lineHeight: 1.7 }}&gt;&#10;        大体量抓取数据走静态文件，手动补充走云端 state——两层惰性合并，互不覆盖。&lt;span style={{ color: '#FD2659' }}&gt;手动层永远优先&lt;/span&gt;，保证运营标注不被自动同步冲掉。&#10;      &lt;/Text&gt;&#10;      &lt;Box style={{ background: 'rgba(253,38,89,0.1)', borderRadius: 10, padding: '16px 20px', borderLeft: '4px solid #FD2659' }}&gt;&#10;        &lt;Text style={{ fontSize: 18, color: '#F0E8E8', lineHeight: 1.6 }}&gt;&#10;          诚实修正：当「自动算分组」因上游不可爬而走不通，没有硬编假数据，而是把决策权交还运营——手动录入分组，阶段二再本地算积分。&#10;        &lt;/Text&gt;&#10;      &lt;/Box&gt;&#10;      &lt;Text style={{ fontSize: 16, color: '#7B7F7D', lineHeight: 1.6 }}&gt;这一取舍让中台可信、可维护，也避免了「看起来能用实则失真」的陷阱。&lt;/Text&gt;&#10;    &lt;/Box&gt;&#10;  &lt;/Box&gt;&#10;  &lt;Box style={{ position: 'absolute', bottom: 20, left: 64, fontSize: 14, color: '#7B7F7D' }}&gt;瓦电赛事运营中台&lt;/Box&gt;&#10;  &lt;Box style={{ position: 'absolute', bottom: 20, right: 64, fontSize: 14, color: '#7B7F7D' }}&gt;14 / 18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0A0B"/>
              </a:gs>
              <a:gs pos="100000">
                <a:srgbClr val="241215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609600" y="381000"/>
            <a:ext cx="10972800" cy="762000"/>
          </a:xfrm>
          <a:custGeom>
            <a:pathLst>
              <a:path w="1152" h="80">
                <a:moveTo>
                  <a:pt x="0" y="78"/>
                </a:moveTo>
                <a:lnTo>
                  <a:pt x="1152" y="78"/>
                </a:lnTo>
                <a:lnTo>
                  <a:pt x="1152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D2659">
              <a:alpha val="40000"/>
            </a:srgbClr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0E8E8"/>
                </a:solidFill>
                <a:latin typeface="Microsoft YaHei"/>
                <a:ea typeface="Microsoft YaHei"/>
              </a:rPr>
              <a:t>数据分层与诚实修正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390650" y="2686050"/>
            <a:ext cx="26479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D2659"/>
                </a:solidFill>
                <a:latin typeface="Microsoft YaHei"/>
                <a:ea typeface="Microsoft YaHei"/>
              </a:rPr>
              <a:t>462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2028825" y="4457700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0E8E8"/>
                </a:solidFill>
                <a:latin typeface="Microsoft YaHei"/>
                <a:ea typeface="Microsoft YaHei"/>
              </a:rPr>
              <a:t>名选手已入库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762125" y="481012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来自</a:t>
            </a:r>
            <a:r>
              <a:rPr lang="en-US" sz="1275">
                <a:solidFill>
                  <a:srgbClr val="B0A0A0"/>
                </a:solidFill>
                <a:latin typeface="Microsoft YaHei"/>
                <a:ea typeface="Microsoft YaHei"/>
              </a:rPr>
              <a:t> 50 </a:t>
            </a: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支战队</a:t>
            </a:r>
            <a:r>
              <a:rPr lang="en-US" sz="1275">
                <a:solidFill>
                  <a:srgbClr val="B0A0A0"/>
                </a:solidFill>
                <a:latin typeface="Microsoft YaHei"/>
                <a:ea typeface="Microsoft YaHei"/>
              </a:rPr>
              <a:t> · VLR </a:t>
            </a:r>
            <a:r>
              <a:rPr lang="zh-CN" sz="1275">
                <a:solidFill>
                  <a:srgbClr val="B0A0A0"/>
                </a:solidFill>
                <a:latin typeface="Microsoft YaHei"/>
                <a:ea typeface="Microsoft YaHei"/>
              </a:rPr>
              <a:t>抓取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286375" y="2343150"/>
            <a:ext cx="6296025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F0E8E8"/>
                </a:solidFill>
                <a:latin typeface="Microsoft YaHei"/>
                <a:ea typeface="Microsoft YaHei"/>
              </a:rPr>
              <a:t>分层是稳健的关键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5286375" y="2933700"/>
            <a:ext cx="6296025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B0A0A0"/>
                </a:solidFill>
                <a:latin typeface="Microsoft YaHei"/>
                <a:ea typeface="Microsoft YaHei"/>
              </a:rPr>
              <a:t>大体量抓取数据走静态文件，手动补充走云端</a:t>
            </a:r>
            <a:r>
              <a:rPr lang="en-US" sz="1425">
                <a:solidFill>
                  <a:srgbClr val="B0A0A0"/>
                </a:solidFill>
                <a:latin typeface="Microsoft YaHei"/>
                <a:ea typeface="Microsoft YaHei"/>
              </a:rPr>
              <a:t> state——</a:t>
            </a:r>
            <a:r>
              <a:rPr lang="zh-CN" sz="1425">
                <a:solidFill>
                  <a:srgbClr val="B0A0A0"/>
                </a:solidFill>
                <a:latin typeface="Microsoft YaHei"/>
                <a:ea typeface="Microsoft YaHei"/>
              </a:rPr>
              <a:t>两层惰性合并，互不覆盖。</a:t>
            </a:r>
            <a:r>
              <a:rPr lang="zh-CN" sz="1425">
                <a:solidFill>
                  <a:srgbClr val="FD2659"/>
                </a:solidFill>
                <a:latin typeface="Microsoft YaHei"/>
                <a:ea typeface="Microsoft YaHei"/>
              </a:rPr>
              <a:t>手动层永远优先</a:t>
            </a:r>
            <a:r>
              <a:rPr lang="zh-CN" sz="1425">
                <a:solidFill>
                  <a:srgbClr val="B0A0A0"/>
                </a:solidFill>
                <a:latin typeface="Microsoft YaHei"/>
                <a:ea typeface="Microsoft YaHei"/>
              </a:rPr>
              <a:t>，保证运营标注不被自动同步冲掉。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5324475" y="3886200"/>
            <a:ext cx="6296025" cy="971550"/>
          </a:xfrm>
          <a:prstGeom prst="roundRect">
            <a:avLst>
              <a:gd name="adj" fmla="val 9804"/>
            </a:avLst>
          </a:prstGeom>
          <a:solidFill>
            <a:srgbClr val="FD2659">
              <a:alpha val="10000"/>
            </a:srgbClr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5324475" y="3886200"/>
            <a:ext cx="6296025" cy="971550"/>
          </a:xfrm>
          <a:custGeom>
            <a:pathLst>
              <a:path w="661" h="10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6"/>
                </a:lnTo>
                <a:cubicBezTo>
                  <a:pt x="4" y="99"/>
                  <a:pt x="6" y="101"/>
                  <a:pt x="9" y="102"/>
                </a:cubicBezTo>
                <a:cubicBezTo>
                  <a:pt x="4" y="101"/>
                  <a:pt x="0" y="97"/>
                  <a:pt x="0" y="9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D2659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514975" y="4038600"/>
            <a:ext cx="58769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F0E8E8"/>
                </a:solidFill>
                <a:latin typeface="Microsoft YaHei"/>
                <a:ea typeface="Microsoft YaHei"/>
              </a:rPr>
              <a:t>诚实修正：当「自动算分组」因上游不可爬而走不通，没有硬编假数据，而是把决策权交还运营——手动录入分组，阶段二再本地算积分。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286375" y="5067300"/>
            <a:ext cx="62960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7B7F7D"/>
                </a:solidFill>
                <a:latin typeface="Microsoft YaHei"/>
                <a:ea typeface="Microsoft YaHei"/>
              </a:rPr>
              <a:t>这一取舍让中台可信、可维护，也避免了「看起来能用实则失真」的陷阱。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B7F7D"/>
                </a:solidFill>
                <a:latin typeface="Microsoft YaHei"/>
                <a:ea typeface="Microsoft YaHei"/>
              </a:rPr>
              <a:t>瓦电赛事运营中台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7F7D"/>
                </a:solidFill>
                <a:latin typeface="Microsoft YaHei"/>
                <a:ea typeface="Microsoft YaHei"/>
              </a:rPr>
              <a:t>14 / 18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06" name="" descr="&lt;Slide style={{ width: '1280px', height: '720px', background: 'linear-gradient(135deg, #120A0B 0%, #241215 100%)', padding: 0, position: 'relative' }}&gt;&#10;  &lt;Box style={{ position: 'absolute', top: 0, right: 0, width: 460, height: 460, background: 'linear-gradient(135deg, rgba(220,48,48,0.18) 0%, transparent 70%)' }} /&gt;&#10;  &lt;Box style={{ position: 'absolute', left: 90, top: 250 }}&gt;&#10;    &lt;Text style={{ fontSize: 200, color: 'rgba(220,48,48,0.16)', fontWeight: 800, lineHeight: 1 }}&gt;04&lt;/Text&gt;&#10;  &lt;/Box&gt;&#10;  &lt;Box style={{ position: 'absolute', left: 130, top: 320, zIndex: 2 }}&gt;&#10;    &lt;Text style={{ fontSize: 22, color: '#FD2659', fontWeight: 'bold', letterSpacing: 4 }}&gt;CHAPTER 04&lt;/Text&gt;&#10;    &lt;Text style={{ fontSize: 56, color: '#F0E8E8', fontWeight: 800, marginTop: 14 }}&gt;未来扩展&lt;/Text&gt;&#10;    &lt;Box style={{ width: 90, height: 5, background: '#DC3030', marginTop: 22, borderRadius: 3 }} /&gt;&#10;    &lt;Text style={{ fontSize: 20, color: '#B0A0A0', marginTop: 22 }}&gt;私有云、AI 文案，以及更远的路线。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0A0B"/>
              </a:gs>
              <a:gs pos="100000">
                <a:srgbClr val="241215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7810500" y="0"/>
            <a:ext cx="4381500" cy="4381500"/>
          </a:xfrm>
          <a:prstGeom prst="rect">
            <a:avLst/>
          </a:prstGeom>
          <a:gradFill>
            <a:gsLst>
              <a:gs pos="0">
                <a:srgbClr val="DC3030">
                  <a:alpha val="18000"/>
                </a:srgbClr>
              </a:gs>
              <a:gs pos="7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57250" y="238125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DC3030">
                    <a:alpha val="16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238250" y="3048000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300">
                <a:solidFill>
                  <a:srgbClr val="FD2659"/>
                </a:solidFill>
                <a:latin typeface="Microsoft YaHei"/>
                <a:ea typeface="Microsoft YaHei"/>
              </a:rPr>
              <a:t>CHAPTER 04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238250" y="3438525"/>
            <a:ext cx="31051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0E8E8"/>
                </a:solidFill>
                <a:latin typeface="Microsoft YaHei"/>
                <a:ea typeface="Microsoft YaHei"/>
              </a:rPr>
              <a:t>未来扩展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1238250" y="4295775"/>
            <a:ext cx="857250" cy="47625"/>
          </a:xfrm>
          <a:prstGeom prst="roundRect">
            <a:avLst>
              <a:gd name="adj" fmla="val 60000"/>
            </a:avLst>
          </a:prstGeom>
          <a:solidFill>
            <a:srgbClr val="DC3030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238250" y="4552950"/>
            <a:ext cx="3105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B0A0A0"/>
                </a:solidFill>
                <a:latin typeface="Microsoft YaHei"/>
                <a:ea typeface="Microsoft YaHei"/>
              </a:rPr>
              <a:t>私有云、</a:t>
            </a:r>
            <a:r>
              <a:rPr lang="en-US" sz="1500">
                <a:solidFill>
                  <a:srgbClr val="B0A0A0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B0A0A0"/>
                </a:solidFill>
                <a:latin typeface="Microsoft YaHei"/>
                <a:ea typeface="Microsoft YaHei"/>
              </a:rPr>
              <a:t>文案，以及更远的路线。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4" name="" descr="&lt;Slide style={{ width: '1280px', height: '720px', background: '#120A0B', padding: '40px 64px' }}&gt;&#10;  &lt;Box style={{ height: 80, justifyContent: 'flex-end', borderBottom: '2px solid rgba(253,38,89,0.4)' }}&gt;&#10;    &lt;Text style={{ fontSize: 34, color: '#F0E8E8', fontWeight: 700 }}&gt;私有云部署与 AI 文案&lt;/Text&gt;&#10;  &lt;/Box&gt;&#10;  &lt;Box style={{ flexDirection: 'row', gap: 44, marginTop: 26, height: 520 }}&gt;&#10;    {/* 左 42%：要点 */}&#10;    &lt;Box style={{ width: '42%', justifyContent: 'center', gap: 20 }}&gt;&#10;      &lt;Box style={{ background: 'rgba(220,48,48,0.08)', borderRadius: 12, padding: '18px 20px', borderLeft: '4px solid #DC3030' }}&gt;&#10;        &lt;Text style={{ fontSize: 21, color: '#FD2659', fontWeight: 700 }}&gt;私有云空间&lt;/Text&gt;&#10;        &lt;Text style={{ fontSize: 16, color: '#B0A0A0', marginTop: 8, lineHeight: 1.5 }}&gt;以自建私有云替代 GitHub Pages + 公有 Supabase，数据不出内网，权限与合规更可控。&lt;/Text&gt;&#10;      &lt;/Box&gt;&#10;      &lt;Box style={{ background: 'rgba(253,38,89,0.08)', borderRadius: 12, padding: '18px 20px', borderLeft: '4px solid #FD2659' }}&gt;&#10;        &lt;Text style={{ fontSize: 21, color: '#FD2659', fontWeight: 700 }}&gt;接入 AI 文案&lt;/Text&gt;&#10;        &lt;Text style={{ fontSize: 16, color: '#B0A0A0', marginTop: 8, lineHeight: 1.5 }}&gt;LLM 生成多样化社媒文案、多语言版本、看点润色，从「模板固定」升级为「千人千面」。&lt;/Text&gt;&#10;      &lt;/Box&gt;&#10;    &lt;/Box&gt;&#10;    {/* 右 58%：扩展架构 SVG */}&#10;    &lt;Box style={{ width: '58%', justifyContent: 'center', alignItems: 'center', background: 'rgba(220,48,48,0.06)', borderRadius: 16 }}&gt;&#10;      &lt;svg width={540} height={400} viewBox='0 0 540 400'&gt;&#10;        &lt;rect x='180' y='30' width='180' height='56' rx='10' fill='#1A0D0E' stroke='#DC3030' strokeWidth='1.5' /&gt;&#10;        &lt;text x='270' y='63' fill='#F0E8E8' fontSize='16' fontWeight='bold' textAnchor='middle'&gt;运营中台&lt;/text&gt;&#10;        {/* 私有云 */}&#10;        &lt;rect x='40' y='150' width='200' height='90' rx='10' fill='#1A0D0E' stroke='#FD2659' strokeWidth='1.5' /&gt;&#10;        &lt;text x='140' y='185' fill='#FD2659' fontSize='15' fontWeight='bold' textAnchor='middle'&gt;私有云&lt;/text&gt;&#10;        &lt;text x='140' y='212' fill='#B0A0A0' fontSize='12' textAnchor='middle'&gt;内网托管 + 自管数据库&lt;/text&gt;&#10;        {/* AI */}&#10;        &lt;rect x='300' y='150' width='200' height='90' rx='10' fill='#1A0D0E' stroke='#DC3030' strokeWidth='1.5' /&gt;&#10;        &lt;text x='400' y='185' fill='#DC3030' fontSize='15' fontWeight='bold' textAnchor='middle'&gt;AI 文案引擎&lt;/text&gt;&#10;        &lt;text x='400' y='212' fill='#B0A0A0' fontSize='12' textAnchor='middle'&gt;LLM 多样化生成&lt;/text&gt;&#10;        &lt;line x1='270' y1='86' x2='140' y2='150' stroke='#FD2659' strokeWidth='2' /&gt;&#10;        &lt;line x1='270' y1='86' x2='400' y2='150' stroke='#DC3030' strokeWidth='2' /&gt;&#10;        {/* 输出 */}&#10;        &lt;rect x='40' y='300' width='200' height='70' rx='10' fill='#120A0B' stroke='#FD2659' strokeWidth='1' /&gt;&#10;        &lt;text x='140' y='335' fill='#F0E8E8' fontSize='14' textAnchor='middle'&gt;安全可控部署&lt;/text&gt;&#10;        &lt;rect x='300' y='300' width='200' height='70' rx='10' fill='#120A0B' stroke='#FD2659' strokeWidth='1' /&gt;&#10;        &lt;text x='400' y='335' fill='#F0E8E8' fontSize='14' textAnchor='middle'&gt;多样化社媒文案&lt;/text&gt;&#10;        &lt;line x1='140' y1='240' x2='140' y2='300' stroke='#FD2659' strokeWidth='2' /&gt;&#10;        &lt;line x1='400' y1='240' x2='400' y2='300' stroke='#DC3030' strokeWidth='2' /&gt;&#10;      &lt;/svg&gt;&#10;    &lt;/Box&gt;&#10;  &lt;/Box&gt;&#10;  &lt;Box style={{ position: 'absolute', bottom: 20, left: 64, fontSize: 14, color: '#7B7F7D' }}&gt;瓦电赛事运营中台&lt;/Box&gt;&#10;  &lt;Box style={{ position: 'absolute', bottom: 20, right: 64, fontSize: 14, color: '#7B7F7D' }}&gt;16 / 18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0A0B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609600" y="381000"/>
            <a:ext cx="10972800" cy="762000"/>
          </a:xfrm>
          <a:custGeom>
            <a:pathLst>
              <a:path w="1152" h="80">
                <a:moveTo>
                  <a:pt x="0" y="78"/>
                </a:moveTo>
                <a:lnTo>
                  <a:pt x="1152" y="78"/>
                </a:lnTo>
                <a:lnTo>
                  <a:pt x="1152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D2659">
              <a:alpha val="40000"/>
            </a:srgbClr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0E8E8"/>
                </a:solidFill>
                <a:latin typeface="Microsoft YaHei"/>
                <a:ea typeface="Microsoft YaHei"/>
              </a:rPr>
              <a:t>私有云部署与</a:t>
            </a:r>
            <a:r>
              <a:rPr lang="en-US" sz="2550" b="1">
                <a:solidFill>
                  <a:srgbClr val="F0E8E8"/>
                </a:solidFill>
                <a:latin typeface="Microsoft YaHei"/>
                <a:ea typeface="Microsoft YaHei"/>
              </a:rPr>
              <a:t> AI </a:t>
            </a:r>
            <a:r>
              <a:rPr lang="zh-CN" sz="2550" b="1">
                <a:solidFill>
                  <a:srgbClr val="F0E8E8"/>
                </a:solidFill>
                <a:latin typeface="Microsoft YaHei"/>
                <a:ea typeface="Microsoft YaHei"/>
              </a:rPr>
              <a:t>文案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47700" y="2552700"/>
            <a:ext cx="4429125" cy="1219200"/>
          </a:xfrm>
          <a:prstGeom prst="roundRect">
            <a:avLst>
              <a:gd name="adj" fmla="val 9375"/>
            </a:avLst>
          </a:prstGeom>
          <a:solidFill>
            <a:srgbClr val="DC3030">
              <a:alpha val="8000"/>
            </a:srgbClr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647700" y="2552700"/>
            <a:ext cx="4429125" cy="1219200"/>
          </a:xfrm>
          <a:custGeom>
            <a:pathLst>
              <a:path w="465" h="12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20"/>
                </a:lnTo>
                <a:cubicBezTo>
                  <a:pt x="4" y="124"/>
                  <a:pt x="7" y="127"/>
                  <a:pt x="10" y="128"/>
                </a:cubicBezTo>
                <a:cubicBezTo>
                  <a:pt x="4" y="127"/>
                  <a:pt x="0" y="122"/>
                  <a:pt x="0" y="11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C3030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38200" y="2724150"/>
            <a:ext cx="40100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D2659"/>
                </a:solidFill>
                <a:latin typeface="Microsoft YaHei"/>
                <a:ea typeface="Microsoft YaHei"/>
              </a:rPr>
              <a:t>私有云空间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38200" y="3048000"/>
            <a:ext cx="40100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B0A0A0"/>
                </a:solidFill>
                <a:latin typeface="Microsoft YaHei"/>
                <a:ea typeface="Microsoft YaHei"/>
              </a:rPr>
              <a:t>以自建私有云替代</a:t>
            </a:r>
            <a:r>
              <a:rPr lang="en-US" sz="1200">
                <a:solidFill>
                  <a:srgbClr val="B0A0A0"/>
                </a:solidFill>
                <a:latin typeface="Microsoft YaHei"/>
                <a:ea typeface="Microsoft YaHei"/>
              </a:rPr>
              <a:t> GitHub Pages + </a:t>
            </a:r>
            <a:r>
              <a:rPr lang="zh-CN" sz="1200">
                <a:solidFill>
                  <a:srgbClr val="B0A0A0"/>
                </a:solidFill>
                <a:latin typeface="Microsoft YaHei"/>
                <a:ea typeface="Microsoft YaHei"/>
              </a:rPr>
              <a:t>公有</a:t>
            </a:r>
            <a:r>
              <a:rPr lang="en-US" sz="1200">
                <a:solidFill>
                  <a:srgbClr val="B0A0A0"/>
                </a:solidFill>
                <a:latin typeface="Microsoft YaHei"/>
                <a:ea typeface="Microsoft YaHei"/>
              </a:rPr>
              <a:t> Supabase</a:t>
            </a:r>
            <a:r>
              <a:rPr lang="zh-CN" sz="1200">
                <a:solidFill>
                  <a:srgbClr val="B0A0A0"/>
                </a:solidFill>
                <a:latin typeface="Microsoft YaHei"/>
                <a:ea typeface="Microsoft YaHei"/>
              </a:rPr>
              <a:t>，数据不出内网，权限与合规更可控。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47700" y="3962400"/>
            <a:ext cx="4429125" cy="1219200"/>
          </a:xfrm>
          <a:prstGeom prst="roundRect">
            <a:avLst>
              <a:gd name="adj" fmla="val 9375"/>
            </a:avLst>
          </a:prstGeom>
          <a:solidFill>
            <a:srgbClr val="FD2659">
              <a:alpha val="8000"/>
            </a:srgbClr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647700" y="3962400"/>
            <a:ext cx="4429125" cy="1219200"/>
          </a:xfrm>
          <a:custGeom>
            <a:pathLst>
              <a:path w="465" h="12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20"/>
                </a:lnTo>
                <a:cubicBezTo>
                  <a:pt x="4" y="124"/>
                  <a:pt x="7" y="127"/>
                  <a:pt x="10" y="128"/>
                </a:cubicBezTo>
                <a:cubicBezTo>
                  <a:pt x="4" y="127"/>
                  <a:pt x="0" y="122"/>
                  <a:pt x="0" y="11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D2659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38200" y="4133850"/>
            <a:ext cx="40100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D2659"/>
                </a:solidFill>
                <a:latin typeface="Microsoft YaHei"/>
                <a:ea typeface="Microsoft YaHei"/>
              </a:rPr>
              <a:t>接入</a:t>
            </a:r>
            <a:r>
              <a:rPr lang="en-US" sz="1575" b="1">
                <a:solidFill>
                  <a:srgbClr val="FD2659"/>
                </a:solidFill>
                <a:latin typeface="Microsoft YaHei"/>
                <a:ea typeface="Microsoft YaHei"/>
              </a:rPr>
              <a:t> AI </a:t>
            </a:r>
            <a:r>
              <a:rPr lang="zh-CN" sz="1575" b="1">
                <a:solidFill>
                  <a:srgbClr val="FD2659"/>
                </a:solidFill>
                <a:latin typeface="Microsoft YaHei"/>
                <a:ea typeface="Microsoft YaHei"/>
              </a:rPr>
              <a:t>文案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38200" y="4457700"/>
            <a:ext cx="40100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B0A0A0"/>
                </a:solidFill>
                <a:latin typeface="Microsoft YaHei"/>
                <a:ea typeface="Microsoft YaHei"/>
              </a:rPr>
              <a:t>LLM </a:t>
            </a:r>
            <a:r>
              <a:rPr lang="zh-CN" sz="1200">
                <a:solidFill>
                  <a:srgbClr val="B0A0A0"/>
                </a:solidFill>
                <a:latin typeface="Microsoft YaHei"/>
                <a:ea typeface="Microsoft YaHei"/>
              </a:rPr>
              <a:t>生成多样化社媒文案、多语言版本、看点润色，从「模板固定」升级为「千人千面」。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5457825" y="1390650"/>
            <a:ext cx="6124575" cy="4953000"/>
          </a:xfrm>
          <a:prstGeom prst="roundRect">
            <a:avLst>
              <a:gd name="adj" fmla="val 3077"/>
            </a:avLst>
          </a:prstGeom>
          <a:solidFill>
            <a:srgbClr val="DC3030">
              <a:alpha val="6000"/>
            </a:srgbClr>
          </a:solidFill>
          <a:ln/>
        </p:spPr>
        <p:txBody>
          <a:bodyPr/>
          <a:p/>
        </p:txBody>
      </p:sp>
      <p:pic>
        <p:nvPicPr>
          <p:cNvPr id="1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53125" y="1962150"/>
            <a:ext cx="5143500" cy="3810000"/>
          </a:xfrm>
          <a:prstGeom prst="rect">
            <a:avLst/>
          </a:prstGeom>
          <a:ln/>
        </p:spPr>
      </p:pic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B7F7D"/>
                </a:solidFill>
                <a:latin typeface="Microsoft YaHei"/>
                <a:ea typeface="Microsoft YaHei"/>
              </a:rPr>
              <a:t>瓦电赛事运营中台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7F7D"/>
                </a:solidFill>
                <a:latin typeface="Microsoft YaHei"/>
                <a:ea typeface="Microsoft YaHei"/>
              </a:rPr>
              <a:t>16 / 18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30" name="" descr="&lt;Slide style={{ width: '1280px', height: '720px', background: '#120A0B', padding: '40px 64px' }}&gt;&#10;  &lt;Box style={{ height: 80, justifyContent: 'flex-end', borderBottom: '2px solid rgba(253,38,89,0.4)' }}&gt;&#10;    &lt;Text style={{ fontSize: 34, color: '#F0E8E8', fontWeight: 700 }}&gt;扩展路线图&lt;/Text&gt;&#10;  &lt;/Box&gt;&#10;  &lt;Box style={{ flexDirection: 'row', gap: 44, marginTop: 26, height: 520 }}&gt;&#10;    {/* 左 32%：标题 */}&#10;    &lt;Box style={{ width: '32%', justifyContent: 'center' }}&gt;&#10;      &lt;Text style={{ fontSize: 22, color: '#FD2659', fontWeight: 'bold', letterSpacing: 2 }}&gt;ROADMAP&lt;/Text&gt;&#10;      &lt;Text style={{ fontSize: 38, color: '#F0E8E8', fontWeight: 800, marginTop: 12, lineHeight: 1.2 }}&gt;下一步&lt;br /&gt;往哪走&lt;/Text&gt;&#10;      &lt;Box style={{ width: 70, height: 4, background: '#DC3030', marginTop: 20, borderRadius: 2 }} /&gt;&#10;      &lt;Text style={{ fontSize: 16, color: '#B0A0A0', marginTop: 20, lineHeight: 1.6 }}&gt;分三阶段推进，&lt;br /&gt;每阶段都有可交付成果。&lt;/Text&gt;&#10;    &lt;/Box&gt;&#10;    {/* 右 68%：时间轴 */}&#10;    &lt;Box style={{ width: '68%', justifyContent: 'center' }}&gt;&#10;      &lt;svg width={640} height={400} viewBox='0 0 640 400'&gt;&#10;        &lt;line x1='60' y1='120' x2='600' y2='120' stroke='#DC3030' strokeWidth='3' /&gt;&#10;        {[['近期','私有云部署\n数据内网化',120,'#DC3030'],['中期','AI 文案多样化\n完赛记录修复',310,'#FD2659'],['远期','多赛事扩展\n开放 API',500,'#49FFD3']].map((p,i)=&gt;(&#10;          &lt;g key={i}&gt;&#10;            &lt;circle cx={p[2]} cy='120' r='14' fill={p[3]} /&gt;&#10;            &lt;text x={p[2]} y='80' fill={p[3]} fontSize='18' fontWeight='bold' textAnchor='middle'&gt;{p[0]}&lt;/text&gt;&#10;            &lt;rect x={p[2]-95} y='160' width='190' height='150' rx='10' fill='#1A0D0E' stroke={p[3]} strokeWidth='1.5' /&gt;&#10;            {p[1].split('\n').map((ln,j)=&gt;(&lt;text key={j} x={p[2]} y={200+j*34} fill='#F0E8E8' fontSize='15' textAnchor='middle'&gt;{ln}&lt;/text&gt;))}&#10;          &lt;/g&gt;&#10;        ))}&#10;      &lt;/svg&gt;&#10;    &lt;/Box&gt;&#10;  &lt;/Box&gt;&#10;  &lt;Box style={{ position: 'absolute', bottom: 20, left: 64, fontSize: 14, color: '#7B7F7D' }}&gt;瓦电赛事运营中台&lt;/Box&gt;&#10;  &lt;Box style={{ position: 'absolute', bottom: 20, right: 64, fontSize: 14, color: '#7B7F7D' }}&gt;17 / 18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0A0B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609600" y="381000"/>
            <a:ext cx="10972800" cy="762000"/>
          </a:xfrm>
          <a:custGeom>
            <a:pathLst>
              <a:path w="1152" h="80">
                <a:moveTo>
                  <a:pt x="0" y="78"/>
                </a:moveTo>
                <a:lnTo>
                  <a:pt x="1152" y="78"/>
                </a:lnTo>
                <a:lnTo>
                  <a:pt x="1152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D2659">
              <a:alpha val="40000"/>
            </a:srgbClr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0E8E8"/>
                </a:solidFill>
                <a:latin typeface="Microsoft YaHei"/>
                <a:ea typeface="Microsoft YaHei"/>
              </a:rPr>
              <a:t>扩展路线图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09600" y="2657475"/>
            <a:ext cx="3381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150">
                <a:solidFill>
                  <a:srgbClr val="FD2659"/>
                </a:solidFill>
                <a:latin typeface="Microsoft YaHei"/>
                <a:ea typeface="Microsoft YaHei"/>
              </a:rPr>
              <a:t>ROADMAP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3028950"/>
            <a:ext cx="3381375" cy="1047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850" b="1">
                <a:solidFill>
                  <a:srgbClr val="F0E8E8"/>
                </a:solidFill>
                <a:latin typeface="Microsoft YaHei"/>
                <a:ea typeface="Microsoft YaHei"/>
              </a:rPr>
              <a:t>下一步</a:t>
            </a:r>
            <a:endParaRPr/>
          </a:p>
          <a:p>
            <a:pPr>
              <a:lnSpc>
                <a:spcPct val="120000"/>
              </a:lnSpc>
            </a:pPr>
            <a:r>
              <a:rPr lang="zh-CN" sz="2850" b="1">
                <a:solidFill>
                  <a:srgbClr val="F0E8E8"/>
                </a:solidFill>
                <a:latin typeface="Microsoft YaHei"/>
                <a:ea typeface="Microsoft YaHei"/>
              </a:rPr>
              <a:t>往哪走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09600" y="4267200"/>
            <a:ext cx="666750" cy="38100"/>
          </a:xfrm>
          <a:prstGeom prst="roundRect">
            <a:avLst>
              <a:gd name="adj" fmla="val 50000"/>
            </a:avLst>
          </a:prstGeom>
          <a:solidFill>
            <a:srgbClr val="DC3030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09600" y="4495800"/>
            <a:ext cx="3381375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B0A0A0"/>
                </a:solidFill>
                <a:latin typeface="Microsoft YaHei"/>
                <a:ea typeface="Microsoft YaHei"/>
              </a:rPr>
              <a:t>分三阶段推进，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B0A0A0"/>
                </a:solidFill>
                <a:latin typeface="Microsoft YaHei"/>
                <a:ea typeface="Microsoft YaHei"/>
              </a:rPr>
              <a:t>每阶段都有可交付成果。</a:t>
            </a:r>
            <a:endParaRPr/>
          </a:p>
        </p:txBody>
      </p:sp>
      <p:pic>
        <p:nvPicPr>
          <p:cNvPr id="1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410075" y="1962150"/>
            <a:ext cx="6096000" cy="3810000"/>
          </a:xfrm>
          <a:prstGeom prst="rect">
            <a:avLst/>
          </a:prstGeom>
          <a:ln/>
        </p:spPr>
      </p:pic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B7F7D"/>
                </a:solidFill>
                <a:latin typeface="Microsoft YaHei"/>
                <a:ea typeface="Microsoft YaHei"/>
              </a:rPr>
              <a:t>瓦电赛事运营中台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7F7D"/>
                </a:solidFill>
                <a:latin typeface="Microsoft YaHei"/>
                <a:ea typeface="Microsoft YaHei"/>
              </a:rPr>
              <a:t>17 / 18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41" name="" descr="&lt;Slide style={{ width: '1280px', height: '720px', background: 'linear-gradient(135deg, #120A0B 0%, #241215 60%, #120A0B 100%)', padding: 0, position: 'relative' }}&gt;&#10;  &lt;Box style={{ position: 'absolute', top: 0, left: 0, width: 480, height: 480, background: 'linear-gradient(135deg, rgba(220,48,48,0.16) 0%, transparent 70%)' }} /&gt;&#10;  &lt;Box style={{ position: 'absolute', bottom: 0, right: 0, width: 520, height: 520, background: 'linear-gradient(135deg, transparent 40%, rgba(253,38,89,0.16) 100%)' }} /&gt;&#10;  &lt;Box style={{ position: 'absolute', left: 0, right: 0, top: 230, alignItems: 'center', zIndex: 2 }}&gt;&#10;    &lt;Text style={{ fontSize: 28, color: '#FD2659', fontWeight: 'bold', letterSpacing: 4 }}&gt;THANK YOU&lt;/Text&gt;&#10;    &lt;Text style={{ fontSize: 56, color: '#F0E8E8', fontWeight: 800, marginTop: 18, textAlign: 'center', lineHeight: 1.2 }}&gt;让运营更轻，&lt;span style={{ color: '#DC3030' }}&gt;让内容更准&lt;/span&gt;&lt;/Text&gt;&#10;    &lt;Box style={{ width: 110, height: 5, background: '#DC3030', marginTop: 28, borderRadius: 3 }} /&gt;&#10;    &lt;Text style={{ fontSize: 20, color: '#B0A0A0', marginTop: 26, textAlign: 'center', lineHeight: 1.6 }}&gt;瓦电赛事运营中台 · Jinx-Arms 团队&lt;br /&gt;内部工具 · 持续演进中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0A0B"/>
              </a:gs>
              <a:gs pos="60000">
                <a:srgbClr val="241215"/>
              </a:gs>
              <a:gs pos="100000">
                <a:srgbClr val="120A0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0" y="0"/>
            <a:ext cx="4572000" cy="4572000"/>
          </a:xfrm>
          <a:prstGeom prst="rect">
            <a:avLst/>
          </a:prstGeom>
          <a:gradFill>
            <a:gsLst>
              <a:gs pos="0">
                <a:srgbClr val="DC3030">
                  <a:alpha val="16000"/>
                </a:srgbClr>
              </a:gs>
              <a:gs pos="7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7239000" y="1905000"/>
            <a:ext cx="4953000" cy="4953000"/>
          </a:xfrm>
          <a:prstGeom prst="rect">
            <a:avLst/>
          </a:prstGeom>
          <a:gradFill>
            <a:gsLst>
              <a:gs pos="40000">
                <a:srgbClr val="FFFFFF">
                  <a:alpha val="0"/>
                </a:srgbClr>
              </a:gs>
              <a:gs pos="100000">
                <a:srgbClr val="FD2659">
                  <a:alpha val="1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086350" y="2190750"/>
            <a:ext cx="2019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 spc="300">
                <a:solidFill>
                  <a:srgbClr val="FD2659"/>
                </a:solidFill>
                <a:latin typeface="Microsoft YaHei"/>
                <a:ea typeface="Microsoft YaHei"/>
              </a:rPr>
              <a:t>THANK YOU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162300" y="2686050"/>
            <a:ext cx="5867400" cy="77152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4200" b="1">
                <a:solidFill>
                  <a:srgbClr val="F0E8E8"/>
                </a:solidFill>
                <a:latin typeface="Microsoft YaHei"/>
                <a:ea typeface="Microsoft YaHei"/>
              </a:rPr>
              <a:t>让运营更轻，</a:t>
            </a:r>
            <a:r>
              <a:rPr lang="zh-CN" sz="4200" b="1">
                <a:solidFill>
                  <a:srgbClr val="DC3030"/>
                </a:solidFill>
                <a:latin typeface="Microsoft YaHei"/>
                <a:ea typeface="Microsoft YaHei"/>
              </a:rPr>
              <a:t>让内容更准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5572125" y="3724275"/>
            <a:ext cx="1047750" cy="47625"/>
          </a:xfrm>
          <a:prstGeom prst="roundRect">
            <a:avLst>
              <a:gd name="adj" fmla="val 60000"/>
            </a:avLst>
          </a:prstGeom>
          <a:solidFill>
            <a:srgbClr val="DC3030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591050" y="4019550"/>
            <a:ext cx="3019425" cy="7334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500">
                <a:solidFill>
                  <a:srgbClr val="B0A0A0"/>
                </a:solidFill>
                <a:latin typeface="Microsoft YaHei"/>
                <a:ea typeface="Microsoft YaHei"/>
              </a:rPr>
              <a:t>瓦电赛事运营中台</a:t>
            </a:r>
            <a:r>
              <a:rPr lang="en-US" sz="1500">
                <a:solidFill>
                  <a:srgbClr val="B0A0A0"/>
                </a:solidFill>
                <a:latin typeface="Microsoft YaHei"/>
                <a:ea typeface="Microsoft YaHei"/>
              </a:rPr>
              <a:t> · Jinx-Arms </a:t>
            </a:r>
            <a:r>
              <a:rPr lang="zh-CN" sz="1500">
                <a:solidFill>
                  <a:srgbClr val="B0A0A0"/>
                </a:solidFill>
                <a:latin typeface="Microsoft YaHei"/>
                <a:ea typeface="Microsoft YaHei"/>
              </a:rPr>
              <a:t>团队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500">
                <a:solidFill>
                  <a:srgbClr val="B0A0A0"/>
                </a:solidFill>
                <a:latin typeface="Microsoft YaHei"/>
                <a:ea typeface="Microsoft YaHei"/>
              </a:rPr>
              <a:t>内部工具</a:t>
            </a:r>
            <a:r>
              <a:rPr lang="en-US" sz="1500">
                <a:solidFill>
                  <a:srgbClr val="B0A0A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B0A0A0"/>
                </a:solidFill>
                <a:latin typeface="Microsoft YaHei"/>
                <a:ea typeface="Microsoft YaHei"/>
              </a:rPr>
              <a:t>持续演进中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2026-08-23T17:03:01Z</dcterms:created>
  <dcterms:modified xsi:type="dcterms:W3CDTF">2026-08-23T17:03:01Z</dcterms:modified>
</cp:coreProperties>
</file>